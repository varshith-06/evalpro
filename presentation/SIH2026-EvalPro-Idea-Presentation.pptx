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1920240"/>
            <a:ext cx="5669280" cy="4617720"/>
          </a:xfrm>
          <a:prstGeom prst="rect">
            <a:avLst/>
          </a:prstGeom>
          <a:noFill/>
        </p:spPr>
        <p:txBody>
          <a:bodyPr wrap="square" rtlCol="0" lIns="45720" rIns="45720" tIns="22860" bIns="22860"/>
          <a:lstStyle/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Problem Statement ID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[Problem Statement ID from the SIH portal]</a:t>
            </a:r>
            <a:endParaRPr lang="en-US" dirty="0"/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Problem Statement Title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Automated Programming Lab Evaluation Platform</a:t>
            </a:r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Theme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Smart Education</a:t>
            </a:r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PS Category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Software</a:t>
            </a:r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Team ID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[Team ID from the SIH portal]</a:t>
            </a:r>
          </a:p>
          <a:p>
            <a:pPr algn="l" marL="219456" indent="-219456">
              <a:lnSpc>
                <a:spcPct val="112000"/>
              </a:lnSpc>
              <a:buFont typeface="Arial" pitchFamily="34" charset="0"/>
              <a:buChar char="•"/>
              <a:spcAft>
                <a:spcPts val="1400"/>
              </a:spcAft>
            </a:pPr>
            <a:r>
              <a:rPr sz="15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Team Name (Registered on portal) – </a:t>
            </a:r>
            <a:r>
              <a:rPr sz="15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[Team Name as registered on the portal]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19072" y="201168"/>
            <a:ext cx="7973568" cy="731520"/>
          </a:xfrm>
        </p:spPr>
        <p:txBody>
          <a:bodyPr/>
          <a:lstStyle/>
          <a:p>
            <a:pPr eaLnBrk="1" hangingPunct="1" algn="l" marL="0" indent="0">
              <a:lnSpc>
                <a:spcPct val="100000"/>
              </a:lnSpc>
              <a:buNone/>
            </a:pPr>
            <a:r>
              <a:rPr sz="2400" b="1" i="0" u="none">
                <a:solidFill>
                  <a:srgbClr val="1F497D"/>
                </a:solidFill>
                <a:latin typeface="Times New Roman"/>
                <a:cs typeface="Times New Roman" pitchFamily="34" charset="0"/>
              </a:rPr>
              <a:t>EvalPro - Programming Labs That Mark Themselves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29184" y="1188720"/>
            <a:ext cx="11503152" cy="49926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219456" indent="-219456" algn="l">
              <a:lnSpc>
                <a:spcPct val="100000"/>
              </a:lnSpc>
              <a:buFont typeface="Wingdings" pitchFamily="34" charset="0"/>
              <a:buChar char="v"/>
              <a:spcAft>
                <a:spcPts val="1100"/>
              </a:spcAft>
            </a:pPr>
            <a:r>
              <a:rPr sz="20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2000"/>
              </a:spcBef>
              <a:spcAft>
                <a:spcPts val="600"/>
              </a:spcAft>
            </a:pPr>
            <a:r>
              <a:rPr sz="18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Detailed explanation of the proposed solution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teacher writes the question in plain English. No answer key and no test cases needed.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platform reads how the student solved it and marks the approach, with a reason for every mark.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right method with one wrong line still scores. Code that will not even run is still read.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 mark is tied to a topic, so a term of marks becomes a picture of what a student understands.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2000"/>
              </a:spcBef>
              <a:spcAft>
                <a:spcPts val="600"/>
              </a:spcAft>
            </a:pPr>
            <a:r>
              <a:rPr sz="18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How it addresses the problem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Plugs into the college's existing system for labs, submissions and class lists.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Groups the class's mistakes, so a teacher sees the few things most people got wrong.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Flags students slipping behind while there is still time to help them.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student who thinks a mark is wrong can challenge it, and a teacher answers.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2000"/>
              </a:spcBef>
              <a:spcAft>
                <a:spcPts val="600"/>
              </a:spcAft>
            </a:pPr>
            <a:r>
              <a:rPr sz="18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Innovation and uniqueness of the solution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Other auto-graders ask “did the output match?”. This one asks “was the idea right?”.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So a teacher can set an open question and still get it marked - no test cases to write.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answer key never touches the student's program, so it cannot be copied.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marks the question paper too - unclear questions are flagged to the teacher.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spots copied work by showing the matching lines - the teacher decides, not the machine.</a:t>
            </a:r>
          </a:p>
          <a:p>
            <a:pPr algn="l" marL="329184" indent="-219456">
              <a:lnSpc>
                <a:spcPct val="112000"/>
              </a:lnSpc>
              <a:buFont typeface="Arial" pitchFamily="34" charset="0"/>
              <a:buChar char="•"/>
              <a:spcAft>
                <a:spcPts val="600"/>
              </a:spcAft>
            </a:pPr>
            <a:r>
              <a:rPr sz="16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checks its own fairness: if it marks one group differently, it says so before results go out.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2487168"/>
            <a:ext cx="11503152" cy="1170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219456" indent="-219456" algn="l">
              <a:lnSpc>
                <a:spcPct val="100000"/>
              </a:lnSpc>
              <a:buFont typeface="Wingdings" pitchFamily="34" charset="0"/>
              <a:buChar char="v"/>
              <a:spcAft>
                <a:spcPts val="500"/>
              </a:spcAft>
            </a:pPr>
            <a:r>
              <a:rPr sz="14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Technologies to be used (e.g. programming languages, frameworks, hardware)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Python and FastAPI, with a plain web interface that runs in any browser.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 programs run inside a sealed sandbox, away from college systems.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Ordinary hardware - no GPU, and no AI cost per submission marked.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57200" y="3547872"/>
            <a:ext cx="2194560" cy="1589227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buNone/>
              <a:spcAft>
                <a:spcPts val="300"/>
              </a:spcAft>
            </a:pPr>
            <a:r>
              <a:rPr sz="10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Model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Confidence estimator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Knowledge tracing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1" i="0" u="none">
                <a:solidFill>
                  <a:srgbClr val="1A1A1A"/>
                </a:solidFill>
                <a:latin typeface="Arial"/>
                <a:cs typeface="Arial" pitchFamily="34" charset="0"/>
              </a:rPr>
              <a:t>Misconception clustering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Copy detector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Algorithm identifier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Report checker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Early warning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Language detector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2651760" y="3547872"/>
            <a:ext cx="3291840" cy="1589227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buNone/>
              <a:spcAft>
                <a:spcPts val="300"/>
              </a:spcAft>
            </a:pPr>
            <a:r>
              <a:rPr sz="10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What it decides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which marks are safe to release without a teacher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what each student knows, topic by topic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few mistakes the whole class is making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copies that renaming and reordering hide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which method the student actually used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whether the write-up matches the code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who is slipping behind, and why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what it is written in and how to run it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035040" y="3547872"/>
            <a:ext cx="4846320" cy="1589227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buNone/>
              <a:spcAft>
                <a:spcPts val="300"/>
              </a:spcAft>
            </a:pPr>
            <a:r>
              <a:rPr sz="10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How it is trained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 mark a teacher corrects, forever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the stream of marks itself - no labelling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unsupervised - works from day one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self-supervised: copies made by renaming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reference solutions and teacher tags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AI drafts labels, teachers correct, then distil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past outcomes, bias-audited before release</a:t>
            </a:r>
          </a:p>
          <a:p>
            <a:pPr algn="l" marL="0" indent="0">
              <a:lnSpc>
                <a:spcPct val="100000"/>
              </a:lnSpc>
              <a:buNone/>
              <a:spcAft>
                <a:spcPts val="150"/>
              </a:spcAft>
            </a:pPr>
            <a:r>
              <a:rPr sz="950" b="0" i="0" u="none">
                <a:solidFill>
                  <a:srgbClr val="5A5A5A"/>
                </a:solidFill>
                <a:latin typeface="Arial"/>
                <a:cs typeface="Arial" pitchFamily="34" charset="0"/>
              </a:rPr>
              <a:t>auto-labelled from any code corpus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57200" y="5155387"/>
            <a:ext cx="11064240" cy="219456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 i="0" u="none">
                <a:solidFill>
                  <a:srgbClr val="1F497D"/>
                </a:solidFill>
                <a:latin typeface="Arial"/>
                <a:cs typeface="Arial" pitchFamily="34" charset="0"/>
              </a:rPr>
              <a:t>Bold: learns from data already. The rest run on hand-written rules until a semester of use supplies labels - same interface either way, so swapping a model in changes one file. The AI drafts and labels; it never marks a submission.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29184" y="5541264"/>
            <a:ext cx="11503152" cy="786384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Aft>
                <a:spcPts val="500"/>
              </a:spcAft>
            </a:pPr>
            <a:r>
              <a:rPr sz="14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Methodology and process for implementation (Flow Charts/Images/ working prototype)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Teacher approves the topic map and the rubric; both are drafted for them, neither is imposed.</a:t>
            </a:r>
          </a:p>
          <a:p>
            <a:pPr algn="l" marL="329184" indent="-219456">
              <a:lnSpc>
                <a:spcPct val="104000"/>
              </a:lnSpc>
              <a:buFont typeface="Arial" pitchFamily="34" charset="0"/>
              <a:buChar char="•"/>
              <a:spcAft>
                <a:spcPts val="200"/>
              </a:spcAft>
            </a:pPr>
            <a:r>
              <a:rPr sz="12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Working prototype: a class of 24 students across four labs, marked end to end.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9184" y="1042415"/>
            <a:ext cx="2615184" cy="969264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  <a:spcAft>
                <a:spcPts val="40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1.  COLLECT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lab questions, submissions
and class lists, from the
college's existing system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2944368" y="1527047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Rounded Rectangle 17417"/>
          <p:cNvSpPr/>
          <p:nvPr/>
        </p:nvSpPr>
        <p:spPr>
          <a:xfrm>
            <a:off x="3236976" y="1042415"/>
            <a:ext cx="2615184" cy="969264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  <a:spcAft>
                <a:spcPts val="40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2.  MARK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read how it was solved,
run it safely, judge the approach,
explain every mark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5852160" y="1527047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Rounded Rectangle 17419"/>
          <p:cNvSpPr/>
          <p:nvPr/>
        </p:nvSpPr>
        <p:spPr>
          <a:xfrm>
            <a:off x="6144768" y="1042415"/>
            <a:ext cx="2615184" cy="969264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  <a:spcAft>
                <a:spcPts val="40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3.  UNDERSTAND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build a picture of which
topics each student
has actually got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8759952" y="1527047"/>
            <a:ext cx="292608" cy="0"/>
          </a:xfrm>
          <a:prstGeom prst="line">
            <a:avLst/>
          </a:prstGeom>
          <a:ln w="2857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Rounded Rectangle 17421"/>
          <p:cNvSpPr/>
          <p:nvPr/>
        </p:nvSpPr>
        <p:spPr>
          <a:xfrm>
            <a:off x="9052560" y="1042415"/>
            <a:ext cx="2615184" cy="969264"/>
          </a:xfrm>
          <a:prstGeom prst="roundRect">
            <a:avLst/>
          </a:prstGeom>
          <a:solidFill>
            <a:srgbClr val="4F81B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  <a:spcAft>
                <a:spcPts val="400"/>
              </a:spcAft>
            </a:pPr>
            <a:r>
              <a:rPr sz="1100" b="1" i="0" u="none">
                <a:solidFill>
                  <a:srgbClr val="FFFFFF"/>
                </a:solidFill>
                <a:latin typeface="Arial"/>
                <a:cs typeface="Arial" pitchFamily="34" charset="0"/>
              </a:rPr>
              <a:t>4.  ACT</a:t>
            </a:r>
          </a:p>
          <a:p>
            <a:pPr algn="ctr" marL="0" indent="0">
              <a:lnSpc>
                <a:spcPct val="106000"/>
              </a:lnSpc>
              <a:buNone/>
            </a:pPr>
            <a:r>
              <a:rPr sz="950" b="0" i="0" u="none">
                <a:solidFill>
                  <a:srgbClr val="FFFFFF"/>
                </a:solidFill>
                <a:latin typeface="Arial"/>
                <a:cs typeface="Arial" pitchFamily="34" charset="0"/>
              </a:rPr>
              <a:t>tell students what to revise,
tell teachers what to reteach,
report on the course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329184" y="2066543"/>
            <a:ext cx="11475720" cy="402336"/>
          </a:xfrm>
          <a:prstGeom prst="rect">
            <a:avLst/>
          </a:prstGeom>
          <a:noFill/>
        </p:spPr>
        <p:txBody>
          <a:bodyPr wrap="square" lIns="45720" rIns="45720" tIns="22860" bIns="22860"/>
          <a:lstStyle/>
          <a:p>
            <a:pPr algn="ctr" marL="0" indent="0">
              <a:lnSpc>
                <a:spcPct val="104000"/>
              </a:lnSpc>
              <a:buNone/>
            </a:pPr>
            <a:r>
              <a:rPr sz="115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Every mark is tied to a topic, and topics are linked into a prerequisite map - drafted from the syllabus, approved by the teacher. The system walks it to find the root gap, not the symptom.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188720"/>
            <a:ext cx="11503152" cy="4206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300"/>
              </a:spcBef>
              <a:spcAft>
                <a:spcPts val="600"/>
              </a:spcAft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Analysis of the feasibility of the idea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It already works. Nothing here waits on a research breakthrough.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Runs on a normal laptop or a small college server.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Fits the tools a college already uses, so marks return to the existing gradebook.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300"/>
              </a:spcBef>
              <a:spcAft>
                <a:spcPts val="600"/>
              </a:spcAft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Potential challenges and risks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Running students' programs safely on our own machine.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wrong automatic mark loses a class's trust very quickly.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Wrongly accusing a student of copying.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Teachers abandoning anything that costs more time than it saves.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1300"/>
              </a:spcBef>
              <a:spcAft>
                <a:spcPts val="600"/>
              </a:spcAft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Strategies for overcoming these challenges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Every program runs sealed off from everything else, then is destroyed.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Unsure work goes to the teacher, and any student can question any mark.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For copying we show the matching lines only. The teacher decides.</a:t>
            </a:r>
          </a:p>
          <a:p>
            <a:pPr algn="l" marL="329184" indent="-219456">
              <a:lnSpc>
                <a:spcPct val="106000"/>
              </a:lnSpc>
              <a:buFont typeface="Arial" pitchFamily="34" charset="0"/>
              <a:buChar char="•"/>
              <a:spcAft>
                <a:spcPts val="400"/>
              </a:spcAft>
            </a:pPr>
            <a:r>
              <a:rPr sz="13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Ten-minute setup, and every correction a teacher makes trains the system.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1089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Already built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 class of 24 students and four labs, marked end to end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24281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~10 minutes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for a teacher to set up one lab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174736" y="5504688"/>
            <a:ext cx="3712464" cy="694944"/>
          </a:xfrm>
          <a:prstGeom prst="round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2860" bIns="22860"/>
          <a:lstStyle/>
          <a:p>
            <a:pPr algn="ctr" marL="0" indent="0">
              <a:lnSpc>
                <a:spcPct val="100000"/>
              </a:lnSpc>
              <a:buNone/>
            </a:pPr>
            <a:r>
              <a:rPr sz="16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No extra cost</a:t>
            </a:r>
          </a:p>
          <a:p>
            <a:pPr algn="ctr" marL="0" indent="0">
              <a:lnSpc>
                <a:spcPct val="104000"/>
              </a:lnSpc>
              <a:buNone/>
            </a:pPr>
            <a:r>
              <a:rPr sz="10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ordinary hardware, no paid AI service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389888"/>
            <a:ext cx="11503152" cy="4791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3400"/>
              </a:spcBef>
              <a:spcAft>
                <a:spcPts val="600"/>
              </a:spcAft>
            </a:pPr>
            <a:r>
              <a:rPr sz="20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Potential impact on the target audience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Students see “your program crashes on an empty list” instead of “72/100”.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Teachers get their marking hours back, and hear what the class missed in time to teach it again.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Departments get NBA and NAAC outcome reports that are always up to date.</a:t>
            </a:r>
          </a:p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Bef>
                <a:spcPts val="3400"/>
              </a:spcBef>
              <a:spcAft>
                <a:spcPts val="600"/>
              </a:spcAft>
            </a:pPr>
            <a:r>
              <a:rPr sz="20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Benefits of the solution (social, economic, environmental, etc.)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Fairer - one standard for everyone, every mark has a reason, every mark can be questioned.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Cheaper - an evening of marking becomes reviewing the few cases the system flagged.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Earlier - struggling students are found while something can still be done about it.</a:t>
            </a:r>
          </a:p>
          <a:p>
            <a:pPr algn="l" marL="329184" indent="-219456">
              <a:lnSpc>
                <a:spcPct val="118000"/>
              </a:lnSpc>
              <a:buFont typeface="Arial" pitchFamily="34" charset="0"/>
              <a:buChar char="•"/>
              <a:spcAft>
                <a:spcPts val="1300"/>
              </a:spcAft>
            </a:pPr>
            <a:r>
              <a:rPr sz="175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Lasting - what a class got wrong this year improves how it is taught next year.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29184" y="1188720"/>
            <a:ext cx="11503152" cy="4206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22860" bIns="22860"/>
          <a:lstStyle/>
          <a:p>
            <a:pPr algn="l" marL="219456" indent="-219456">
              <a:lnSpc>
                <a:spcPct val="100000"/>
              </a:lnSpc>
              <a:buFont typeface="Wingdings" pitchFamily="34" charset="0"/>
              <a:buChar char="v"/>
              <a:spcAft>
                <a:spcPts val="1000"/>
              </a:spcAft>
            </a:pPr>
            <a:r>
              <a:rPr sz="1600" b="1" i="0" u="sng">
                <a:solidFill>
                  <a:srgbClr val="1F497D"/>
                </a:solidFill>
                <a:latin typeface="Arial"/>
                <a:cs typeface="Arial" pitchFamily="34" charset="0"/>
              </a:rPr>
              <a:t>Details / Links of the reference and research work</a:t>
            </a:r>
          </a:p>
          <a:p>
            <a:pPr algn="l" marL="219456" indent="-219456">
              <a:lnSpc>
                <a:spcPct val="106000"/>
              </a:lnSpc>
              <a:buFont typeface="Arial" pitchFamily="34" charset="0"/>
              <a:buChar char="•"/>
              <a:spcBef>
                <a:spcPts val="1300"/>
              </a:spcBef>
              <a:spcAft>
                <a:spcPts val="500"/>
              </a:spcAft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Checking for copied code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Schleimer, Wilkerson &amp; Aiken, “Winnowing: Local Algorithms for Document Fingerprinting”, ACM SIGMOD 2003 - the method behind MOSS.</a:t>
            </a:r>
          </a:p>
          <a:p>
            <a:pPr algn="l" marL="219456" indent="-219456">
              <a:lnSpc>
                <a:spcPct val="106000"/>
              </a:lnSpc>
              <a:buFont typeface="Arial" pitchFamily="34" charset="0"/>
              <a:buChar char="•"/>
              <a:spcBef>
                <a:spcPts val="1300"/>
              </a:spcBef>
              <a:spcAft>
                <a:spcPts val="500"/>
              </a:spcAft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Tracking what a student knows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Corbett &amp; Anderson, “Knowledge Tracing”, User Modeling and User-Adapted Interaction, 1994.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Ebel &amp; Frisbie, Essentials of Educational Measurement - telling a good exam question from a bad one.</a:t>
            </a:r>
          </a:p>
          <a:p>
            <a:pPr algn="l" marL="219456" indent="-219456">
              <a:lnSpc>
                <a:spcPct val="106000"/>
              </a:lnSpc>
              <a:buFont typeface="Arial" pitchFamily="34" charset="0"/>
              <a:buChar char="•"/>
              <a:spcBef>
                <a:spcPts val="1300"/>
              </a:spcBef>
              <a:spcAft>
                <a:spcPts val="500"/>
              </a:spcAft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Marking programs automatically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Gulwani, Radicek &amp; Zuleger, “Automated Clustering and Program Repair for Introductory Programming Assignments”, PLDI 2018.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tree-sitter - the parser used to read student code even when it does not compile.</a:t>
            </a:r>
          </a:p>
          <a:p>
            <a:pPr algn="l" marL="219456" indent="-219456">
              <a:lnSpc>
                <a:spcPct val="106000"/>
              </a:lnSpc>
              <a:buFont typeface="Arial" pitchFamily="34" charset="0"/>
              <a:buChar char="•"/>
              <a:spcBef>
                <a:spcPts val="1300"/>
              </a:spcBef>
              <a:spcAft>
                <a:spcPts val="500"/>
              </a:spcAft>
            </a:pPr>
            <a:r>
              <a:rPr sz="1500" b="1" i="0" u="none">
                <a:solidFill>
                  <a:srgbClr val="0070C0"/>
                </a:solidFill>
                <a:latin typeface="Arial"/>
                <a:cs typeface="Arial" pitchFamily="34" charset="0"/>
              </a:rPr>
              <a:t>Running untrusted code, and the standards we build to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Agache et al., “Firecracker: Lightweight Virtualization”, USENIX NSDI 2020.</a:t>
            </a:r>
          </a:p>
          <a:p>
            <a:pPr algn="l" marL="493776" indent="-219456">
              <a:lnSpc>
                <a:spcPct val="108000"/>
              </a:lnSpc>
              <a:buFont typeface="Arial" pitchFamily="34" charset="0"/>
              <a:buChar char="–"/>
              <a:spcAft>
                <a:spcPts val="500"/>
              </a:spcAft>
            </a:pPr>
            <a:r>
              <a:rPr sz="1300" b="0" i="0" u="none">
                <a:solidFill>
                  <a:srgbClr val="1A1A1A"/>
                </a:solidFill>
                <a:latin typeface="Arial"/>
                <a:cs typeface="Arial" pitchFamily="34" charset="0"/>
              </a:rPr>
              <a:t>1EdTech LTI 1.3 for Moodle and Google Classroom; NBA (India) for the CO-PO reports.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10896" y="5559552"/>
            <a:ext cx="11576304" cy="566928"/>
          </a:xfrm>
          <a:prstGeom prst="rect">
            <a:avLst/>
          </a:prstGeom>
          <a:solidFill>
            <a:srgbClr val="ECF2F9"/>
          </a:solidFill>
          <a:ln w="9525">
            <a:solidFill>
              <a:srgbClr val="4F81BD"/>
            </a:solidFill>
          </a:ln>
        </p:spPr>
        <p:txBody>
          <a:bodyPr wrap="square" lIns="45720" rIns="45720" tIns="22860" bIns="22860" anchor="ctr"/>
          <a:lstStyle/>
          <a:p>
            <a:pPr algn="ctr" marL="0" indent="0">
              <a:lnSpc>
                <a:spcPct val="100000"/>
              </a:lnSpc>
              <a:buNone/>
            </a:pPr>
            <a:r>
              <a:rPr sz="1300" b="1" i="0" u="none">
                <a:solidFill>
                  <a:srgbClr val="1F497D"/>
                </a:solidFill>
                <a:latin typeface="Arial"/>
                <a:cs typeface="Arial" pitchFamily="34" charset="0"/>
              </a:rPr>
              <a:t>Working prototype and source code: github.com/Varshith-06/evalpro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