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1920240"/>
            <a:ext cx="5669280" cy="4617720"/>
          </a:xfrm>
          <a:prstGeom prst="rect">
            <a:avLst/>
          </a:prstGeom>
          <a:noFill/>
        </p:spPr>
        <p:txBody>
          <a:bodyPr wrap="square" rtlCol="0" lIns="45720" rIns="45720" tIns="22860" bIns="22860"/>
          <a:lstStyle/>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Problem Statement ID – </a:t>
            </a:r>
            <a:r>
              <a:rPr sz="1500" b="0" i="0" u="none">
                <a:solidFill>
                  <a:srgbClr val="1F497D"/>
                </a:solidFill>
                <a:latin typeface="Arial"/>
                <a:cs typeface="Arial" pitchFamily="34" charset="0"/>
              </a:rPr>
              <a:t>[Problem Statement ID from the SIH portal]</a:t>
            </a:r>
            <a:endParaRPr lang="en-US" dirty="0"/>
          </a:p>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Problem Statement Title – </a:t>
            </a:r>
            <a:r>
              <a:rPr sz="1500" b="0" i="0" u="none">
                <a:solidFill>
                  <a:srgbClr val="1F497D"/>
                </a:solidFill>
                <a:latin typeface="Arial"/>
                <a:cs typeface="Arial" pitchFamily="34" charset="0"/>
              </a:rPr>
              <a:t>Automated Programming Lab Evaluation Platform</a:t>
            </a:r>
          </a:p>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Theme – </a:t>
            </a:r>
            <a:r>
              <a:rPr sz="1500" b="0" i="0" u="none">
                <a:solidFill>
                  <a:srgbClr val="1F497D"/>
                </a:solidFill>
                <a:latin typeface="Arial"/>
                <a:cs typeface="Arial" pitchFamily="34" charset="0"/>
              </a:rPr>
              <a:t>Smart Education</a:t>
            </a:r>
          </a:p>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PS Category – </a:t>
            </a:r>
            <a:r>
              <a:rPr sz="1500" b="0" i="0" u="none">
                <a:solidFill>
                  <a:srgbClr val="1F497D"/>
                </a:solidFill>
                <a:latin typeface="Arial"/>
                <a:cs typeface="Arial" pitchFamily="34" charset="0"/>
              </a:rPr>
              <a:t>Software</a:t>
            </a:r>
          </a:p>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Team ID – </a:t>
            </a:r>
            <a:r>
              <a:rPr sz="1500" b="0" i="0" u="none">
                <a:solidFill>
                  <a:srgbClr val="1F497D"/>
                </a:solidFill>
                <a:latin typeface="Arial"/>
                <a:cs typeface="Arial" pitchFamily="34" charset="0"/>
              </a:rPr>
              <a:t>[Team ID from the SIH portal]</a:t>
            </a:r>
          </a:p>
          <a:p>
            <a:pPr algn="just" marL="219456" indent="-219456">
              <a:lnSpc>
                <a:spcPct val="114999"/>
              </a:lnSpc>
              <a:buFont typeface="Arial" pitchFamily="34" charset="0"/>
              <a:buChar char="•"/>
              <a:spcAft>
                <a:spcPts val="1200"/>
              </a:spcAft>
            </a:pPr>
            <a:r>
              <a:rPr sz="1500" b="1" i="0" u="none">
                <a:solidFill>
                  <a:srgbClr val="1A1A1A"/>
                </a:solidFill>
                <a:latin typeface="Arial"/>
                <a:cs typeface="Arial" pitchFamily="34" charset="0"/>
              </a:rPr>
              <a:t>Team Name (Registered on portal) – </a:t>
            </a:r>
            <a:r>
              <a:rPr sz="1500" b="0" i="0" u="none">
                <a:solidFill>
                  <a:srgbClr val="1F497D"/>
                </a:solidFill>
                <a:latin typeface="Arial"/>
                <a:cs typeface="Arial" pitchFamily="34" charset="0"/>
              </a:rPr>
              <a:t>[Team Name as registered on the portal]</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19072" y="36576"/>
            <a:ext cx="7818120" cy="987552"/>
          </a:xfrm>
        </p:spPr>
        <p:txBody>
          <a:bodyPr/>
          <a:lstStyle/>
          <a:p>
            <a:pPr eaLnBrk="1" hangingPunct="1" algn="l" marL="0" indent="0">
              <a:lnSpc>
                <a:spcPct val="100000"/>
              </a:lnSpc>
              <a:buNone/>
            </a:pPr>
            <a:r>
              <a:rPr sz="2600" b="1" i="0" u="none">
                <a:solidFill>
                  <a:srgbClr val="1F497D"/>
                </a:solidFill>
                <a:latin typeface="Times New Roman"/>
                <a:cs typeface="Times New Roman" pitchFamily="34" charset="0"/>
              </a:rPr>
              <a:t>EvalPro: Concept-Level Mastery Analytics for Programming Labs</a:t>
            </a:r>
          </a:p>
        </p:txBody>
      </p:sp>
      <p:sp>
        <p:nvSpPr>
          <p:cNvPr id="15362" name="TextBox 8"/>
          <p:cNvSpPr txBox="1">
            <a:spLocks noChangeArrowheads="1"/>
          </p:cNvSpPr>
          <p:nvPr/>
        </p:nvSpPr>
        <p:spPr bwMode="auto">
          <a:xfrm>
            <a:off x="329184" y="1133856"/>
            <a:ext cx="11503152" cy="4297680"/>
          </a:xfrm>
          <a:prstGeom prst="rect">
            <a:avLst/>
          </a:prstGeom>
          <a:noFill/>
          <a:ln w="9525">
            <a:noFill/>
            <a:miter lim="800000"/>
            <a:headEnd/>
            <a:tailEnd/>
          </a:ln>
        </p:spPr>
        <p:txBody>
          <a:bodyPr wrap="square" lIns="45720" rIns="45720" tIns="22860" bIns="22860"/>
          <a:lstStyle/>
          <a:p>
            <a:pPr marL="219456" indent="-219456" algn="l">
              <a:lnSpc>
                <a:spcPct val="100000"/>
              </a:lnSpc>
              <a:buFont typeface="Wingdings" pitchFamily="34" charset="0"/>
              <a:buChar char="v"/>
              <a:spcAft>
                <a:spcPts val="700"/>
              </a:spcAft>
            </a:pPr>
            <a:r>
              <a:rPr sz="1700" b="1" i="0" u="sng">
                <a:solidFill>
                  <a:srgbClr val="1F497D"/>
                </a:solidFill>
                <a:latin typeface="Arial"/>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Detailed explanation of the proposed solution</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Not a grader that reports analytics — an analytics platform whose sensor is an automated grader.</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The spine is a course concept graph (40–80 nodes, prerequisite DAG, ~2 hours to author once, reused every semester). Every rubric item carries concept_ids, so each submission becomes evidence about named competencies.</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A seven-stage cascade grades it: ingest → tree-sitter parse → integrity screen → sandboxed build → sandboxed test → partial credit → confidence gate. Each stage writes evidence; only the gate writes a score.</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Bayesian Knowledge Tracing accumulates that evidence into per-student mastery with explicit uncertainty, propagated down the prerequisite DAG.</a:t>
            </a: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How it addresses the problem</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Collect academic information — LTI 1.3 roster and SIS sync, course outcomes, submissions, reports, gradebook writeback.</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Analyse student and course data — per submission, per student longitudinally, per rubric item (classical psychometrics), and per cohort.</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Actionable insights — prerequisite-walk remediation for students, re-teach signals ranked by downstream impact for faculty, early warning routed to support for administrators.</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Simple interface — one landing question per role: what should I work on / what should I teach / where is this programme weak.</a:t>
            </a: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Innovation and uniqueness of the solution</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Partial credit by repair distance: the smallest edit that makes the code compile. A missing colon costs two marks, not a hundred percent of them.</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The test oracle never enters the sandbox — student code cannot hardcode an answer it was never given.</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Item analysis grades the assessment, not just the student: negative discrimination exposes an ambiguous spec before sixty students hit it.</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Abstain rather than guess — a tunable auto-release dial, and an integrity screen that reports cohort-relative outliers as evidence, never as a verdict.</a:t>
            </a:r>
          </a:p>
          <a:p>
            <a:pPr algn="just" marL="329184" indent="-219456">
              <a:lnSpc>
                <a:spcPct val="95000"/>
              </a:lnSpc>
              <a:buFont typeface="Arial" pitchFamily="34" charset="0"/>
              <a:buChar char="•"/>
              <a:spcAft>
                <a:spcPts val="200"/>
              </a:spcAft>
            </a:pPr>
            <a:r>
              <a:rPr sz="1150" b="0" i="0" u="none">
                <a:solidFill>
                  <a:srgbClr val="1A1A1A"/>
                </a:solidFill>
                <a:latin typeface="Arial"/>
                <a:cs typeface="Arial" pitchFamily="34" charset="0"/>
              </a:rPr>
              <a:t>CO–PO attainment computed live from real performance evidence, not reconstructed from a spreadsheet.</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31089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91</a:t>
            </a:r>
          </a:p>
          <a:p>
            <a:pPr algn="ctr" marL="0" indent="0">
              <a:lnSpc>
                <a:spcPct val="88000"/>
              </a:lnSpc>
              <a:buNone/>
            </a:pPr>
            <a:r>
              <a:rPr sz="800" b="0" i="0" u="none">
                <a:solidFill>
                  <a:srgbClr val="1A1A1A"/>
                </a:solidFill>
                <a:latin typeface="Arial"/>
                <a:cs typeface="Arial" pitchFamily="34" charset="0"/>
              </a:rPr>
              <a:t>submissions graded end to end by the real cascade, in the real sandbox</a:t>
            </a:r>
          </a:p>
        </p:txBody>
      </p:sp>
      <p:sp>
        <p:nvSpPr>
          <p:cNvPr id="15364" name="Rounded Rectangle 15363"/>
          <p:cNvSpPr/>
          <p:nvPr/>
        </p:nvSpPr>
        <p:spPr>
          <a:xfrm>
            <a:off x="323697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24</a:t>
            </a:r>
          </a:p>
          <a:p>
            <a:pPr algn="ctr" marL="0" indent="0">
              <a:lnSpc>
                <a:spcPct val="88000"/>
              </a:lnSpc>
              <a:buNone/>
            </a:pPr>
            <a:r>
              <a:rPr sz="800" b="0" i="0" u="none">
                <a:solidFill>
                  <a:srgbClr val="1A1A1A"/>
                </a:solidFill>
                <a:latin typeface="Arial"/>
                <a:cs typeface="Arial" pitchFamily="34" charset="0"/>
              </a:rPr>
              <a:t>concepts tracked per student, mapped to 5 course outcomes</a:t>
            </a:r>
          </a:p>
        </p:txBody>
      </p:sp>
      <p:sp>
        <p:nvSpPr>
          <p:cNvPr id="15365" name="Rounded Rectangle 15364"/>
          <p:cNvSpPr/>
          <p:nvPr/>
        </p:nvSpPr>
        <p:spPr>
          <a:xfrm>
            <a:off x="616305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0.9 s</a:t>
            </a:r>
          </a:p>
          <a:p>
            <a:pPr algn="ctr" marL="0" indent="0">
              <a:lnSpc>
                <a:spcPct val="88000"/>
              </a:lnSpc>
              <a:buNone/>
            </a:pPr>
            <a:r>
              <a:rPr sz="800" b="0" i="0" u="none">
                <a:solidFill>
                  <a:srgbClr val="1A1A1A"/>
                </a:solidFill>
                <a:latin typeface="Arial"/>
                <a:cs typeface="Arial" pitchFamily="34" charset="0"/>
              </a:rPr>
              <a:t>p95 latency for the whole seven-stage cascade, per submission</a:t>
            </a:r>
          </a:p>
        </p:txBody>
      </p:sp>
      <p:sp>
        <p:nvSpPr>
          <p:cNvPr id="15366" name="Rounded Rectangle 15365"/>
          <p:cNvSpPr/>
          <p:nvPr/>
        </p:nvSpPr>
        <p:spPr>
          <a:xfrm>
            <a:off x="908913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13</a:t>
            </a:r>
          </a:p>
          <a:p>
            <a:pPr algn="ctr" marL="0" indent="0">
              <a:lnSpc>
                <a:spcPct val="88000"/>
              </a:lnSpc>
              <a:buNone/>
            </a:pPr>
            <a:r>
              <a:rPr sz="800" b="0" i="0" u="none">
                <a:solidFill>
                  <a:srgbClr val="1A1A1A"/>
                </a:solidFill>
                <a:latin typeface="Arial"/>
                <a:cs typeface="Arial" pitchFamily="34" charset="0"/>
              </a:rPr>
              <a:t>isolation layers specified; the test oracle never enters the guest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329184" y="2980944"/>
            <a:ext cx="11503152" cy="3218688"/>
          </a:xfrm>
          <a:prstGeom prst="rect">
            <a:avLst/>
          </a:prstGeom>
          <a:noFill/>
          <a:ln w="9525">
            <a:noFill/>
            <a:miter lim="800000"/>
            <a:headEnd/>
            <a:tailEnd/>
          </a:ln>
        </p:spPr>
        <p:txBody>
          <a:bodyPr wrap="square" lIns="45720" rIns="45720" tIns="22860" bIns="22860"/>
          <a:lstStyle/>
          <a:p>
            <a:pPr marL="219456" indent="-219456" algn="l">
              <a:lnSpc>
                <a:spcPct val="100000"/>
              </a:lnSpc>
              <a:buFont typeface="Wingdings" pitchFamily="34" charset="0"/>
              <a:buChar char="v"/>
              <a:spcAft>
                <a:spcPts val="400"/>
              </a:spcAft>
            </a:pPr>
            <a:r>
              <a:rPr sz="1400" b="1" i="0" u="sng">
                <a:solidFill>
                  <a:srgbClr val="1F497D"/>
                </a:solidFill>
                <a:latin typeface="Arial"/>
                <a:cs typeface="Arial" pitchFamily="34" charset="0"/>
              </a:rPr>
              <a:t>Technologies to be used (e.g. programming languages, frameworks, hardware)</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Backend — Python 3.12, FastAPI, SQLAlchemy, PostgreSQL (SQLite for the pilot). Build-free ES-module front end with hand-authored SVG, so a deployment needs no toolchain.</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Analysis — tree-sitter (40+ grammars, error-tolerant), winnowing fingerprints (MOSS), pq-gram/APTED tree edit distance, Bayesian Knowledge Tracing, HDBSCAN, point-biserial item analysis.</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Models — gradient boosting for language ID, confidence estimation and risk; graph embeddings for structural clones; a fine-tuned DeBERTa-v3 encoder for report–code entailment. The LLM drafts rubrics once per assignment and never grades a submission.</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Isolation — Firecracker microVM, seccomp-bpf allowlist, cgroups v2, empty network namespace, one-shot instances, supervisor-enforced wall clock.</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Integration — LTI 1.3 tool provider with Assignment and Grade Services writeback (Moodle, Canvas, Google Classroom).</a:t>
            </a:r>
          </a:p>
          <a:p>
            <a:pPr algn="l" marL="219456" indent="-219456">
              <a:lnSpc>
                <a:spcPct val="100000"/>
              </a:lnSpc>
              <a:buFont typeface="Wingdings" pitchFamily="34" charset="0"/>
              <a:buChar char="v"/>
              <a:spcBef>
                <a:spcPts val="800"/>
              </a:spcBef>
              <a:spcAft>
                <a:spcPts val="400"/>
              </a:spcAft>
            </a:pPr>
            <a:r>
              <a:rPr sz="1400" b="1" i="0" u="sng">
                <a:solidFill>
                  <a:srgbClr val="1F497D"/>
                </a:solidFill>
                <a:latin typeface="Arial"/>
                <a:cs typeface="Arial" pitchFamily="34" charset="0"/>
              </a:rPr>
              <a:t>Methodology and process for implementation (Flow Charts/Images/ working prototype)</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Working prototype: the four layers above run today. A 24-student cohort across four labs — 91 submissions — is graded end to end by the real cascade in a real sandbox in under 90 seconds on a laptop; p95 latency is 0.9 s per submission.</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Phase 1 trustworthy execution → Phase 2 partial credit and authoring → Phase 3 accumulation → Phase 4 action → Phase 5 semantic depth. Each phase ships something separately useful.</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29184" y="1115568"/>
            <a:ext cx="2615184" cy="1371600"/>
          </a:xfrm>
          <a:prstGeom prst="roundRect">
            <a:avLst/>
          </a:prstGeom>
          <a:solidFill>
            <a:srgbClr val="1F497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5000"/>
              </a:lnSpc>
              <a:buNone/>
              <a:spcAft>
                <a:spcPts val="300"/>
              </a:spcAft>
            </a:pPr>
            <a:r>
              <a:rPr sz="1050" b="1" i="0" u="none">
                <a:solidFill>
                  <a:srgbClr val="FFFFFF"/>
                </a:solidFill>
                <a:latin typeface="Arial"/>
                <a:cs typeface="Arial" pitchFamily="34" charset="0"/>
              </a:rPr>
              <a:t>L0  INSTITUTIONAL CONTEXT</a:t>
            </a:r>
          </a:p>
          <a:p>
            <a:pPr algn="ctr" marL="0" indent="0">
              <a:lnSpc>
                <a:spcPct val="90000"/>
              </a:lnSpc>
              <a:buNone/>
            </a:pPr>
            <a:r>
              <a:rPr sz="850" b="0" i="0" u="none">
                <a:solidFill>
                  <a:srgbClr val="FFFFFF"/>
                </a:solidFill>
                <a:latin typeface="Arial"/>
                <a:cs typeface="Arial" pitchFamily="34" charset="0"/>
              </a:rPr>
              <a:t>LTI 1.3 / SIS sync
roster · course outcomes
concept graph</a:t>
            </a:r>
          </a:p>
        </p:txBody>
      </p:sp>
      <p:cxnSp>
        <p:nvCxnSpPr>
          <p:cNvPr id="17412" name="Connector 17411"/>
          <p:cNvCxnSpPr/>
          <p:nvPr/>
        </p:nvCxnSpPr>
        <p:spPr>
          <a:xfrm>
            <a:off x="2944368" y="1801368"/>
            <a:ext cx="292608" cy="0"/>
          </a:xfrm>
          <a:prstGeom prst="line">
            <a:avLst/>
          </a:prstGeom>
          <a:ln w="2857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13" name="Rounded Rectangle 17412"/>
          <p:cNvSpPr/>
          <p:nvPr/>
        </p:nvSpPr>
        <p:spPr>
          <a:xfrm>
            <a:off x="3236976" y="1115568"/>
            <a:ext cx="2615184" cy="1371600"/>
          </a:xfrm>
          <a:prstGeom prst="roundRect">
            <a:avLst/>
          </a:prstGeom>
          <a:solidFill>
            <a:srgbClr val="4F81B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5000"/>
              </a:lnSpc>
              <a:buNone/>
              <a:spcAft>
                <a:spcPts val="300"/>
              </a:spcAft>
            </a:pPr>
            <a:r>
              <a:rPr sz="1050" b="1" i="0" u="none">
                <a:solidFill>
                  <a:srgbClr val="FFFFFF"/>
                </a:solidFill>
                <a:latin typeface="Arial"/>
                <a:cs typeface="Arial" pitchFamily="34" charset="0"/>
              </a:rPr>
              <a:t>L1  SENSING</a:t>
            </a:r>
          </a:p>
          <a:p>
            <a:pPr algn="ctr" marL="0" indent="0">
              <a:lnSpc>
                <a:spcPct val="90000"/>
              </a:lnSpc>
              <a:buNone/>
            </a:pPr>
            <a:r>
              <a:rPr sz="850" b="0" i="0" u="none">
                <a:solidFill>
                  <a:srgbClr val="FFFFFF"/>
                </a:solidFill>
                <a:latin typeface="Arial"/>
                <a:cs typeface="Arial" pitchFamily="34" charset="0"/>
              </a:rPr>
              <a:t>authoring → cascade
sandbox → gate
per-rubric-item evidence</a:t>
            </a:r>
          </a:p>
        </p:txBody>
      </p:sp>
      <p:cxnSp>
        <p:nvCxnSpPr>
          <p:cNvPr id="17414" name="Connector 17413"/>
          <p:cNvCxnSpPr/>
          <p:nvPr/>
        </p:nvCxnSpPr>
        <p:spPr>
          <a:xfrm>
            <a:off x="5852160" y="1801368"/>
            <a:ext cx="292608" cy="0"/>
          </a:xfrm>
          <a:prstGeom prst="line">
            <a:avLst/>
          </a:prstGeom>
          <a:ln w="2857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15" name="Rounded Rectangle 17414"/>
          <p:cNvSpPr/>
          <p:nvPr/>
        </p:nvSpPr>
        <p:spPr>
          <a:xfrm>
            <a:off x="6144768" y="1115568"/>
            <a:ext cx="2615184" cy="1371600"/>
          </a:xfrm>
          <a:prstGeom prst="roundRect">
            <a:avLst/>
          </a:prstGeom>
          <a:solidFill>
            <a:srgbClr val="1F497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5000"/>
              </a:lnSpc>
              <a:buNone/>
              <a:spcAft>
                <a:spcPts val="300"/>
              </a:spcAft>
            </a:pPr>
            <a:r>
              <a:rPr sz="1050" b="1" i="0" u="none">
                <a:solidFill>
                  <a:srgbClr val="FFFFFF"/>
                </a:solidFill>
                <a:latin typeface="Arial"/>
                <a:cs typeface="Arial" pitchFamily="34" charset="0"/>
              </a:rPr>
              <a:t>L2  ACCUMULATION</a:t>
            </a:r>
          </a:p>
          <a:p>
            <a:pPr algn="ctr" marL="0" indent="0">
              <a:lnSpc>
                <a:spcPct val="90000"/>
              </a:lnSpc>
              <a:buNone/>
            </a:pPr>
            <a:r>
              <a:rPr sz="850" b="0" i="0" u="none">
                <a:solidFill>
                  <a:srgbClr val="FFFFFF"/>
                </a:solidFill>
                <a:latin typeface="Arial"/>
                <a:cs typeface="Arial" pitchFamily="34" charset="0"/>
              </a:rPr>
              <a:t>knowledge tracing
item analysis
misconception clusters</a:t>
            </a:r>
          </a:p>
        </p:txBody>
      </p:sp>
      <p:cxnSp>
        <p:nvCxnSpPr>
          <p:cNvPr id="17416" name="Connector 17415"/>
          <p:cNvCxnSpPr/>
          <p:nvPr/>
        </p:nvCxnSpPr>
        <p:spPr>
          <a:xfrm>
            <a:off x="8759952" y="1801368"/>
            <a:ext cx="292608" cy="0"/>
          </a:xfrm>
          <a:prstGeom prst="line">
            <a:avLst/>
          </a:prstGeom>
          <a:ln w="2857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17" name="Rounded Rectangle 17416"/>
          <p:cNvSpPr/>
          <p:nvPr/>
        </p:nvSpPr>
        <p:spPr>
          <a:xfrm>
            <a:off x="9052560" y="1115568"/>
            <a:ext cx="2615184" cy="1371600"/>
          </a:xfrm>
          <a:prstGeom prst="roundRect">
            <a:avLst/>
          </a:prstGeom>
          <a:solidFill>
            <a:srgbClr val="4F81B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5000"/>
              </a:lnSpc>
              <a:buNone/>
              <a:spcAft>
                <a:spcPts val="300"/>
              </a:spcAft>
            </a:pPr>
            <a:r>
              <a:rPr sz="1050" b="1" i="0" u="none">
                <a:solidFill>
                  <a:srgbClr val="FFFFFF"/>
                </a:solidFill>
                <a:latin typeface="Arial"/>
                <a:cs typeface="Arial" pitchFamily="34" charset="0"/>
              </a:rPr>
              <a:t>L3  ACTION</a:t>
            </a:r>
          </a:p>
          <a:p>
            <a:pPr algn="ctr" marL="0" indent="0">
              <a:lnSpc>
                <a:spcPct val="90000"/>
              </a:lnSpc>
              <a:buNone/>
            </a:pPr>
            <a:r>
              <a:rPr sz="850" b="0" i="0" u="none">
                <a:solidFill>
                  <a:srgbClr val="FFFFFF"/>
                </a:solidFill>
                <a:latin typeface="Arial"/>
                <a:cs typeface="Arial" pitchFamily="34" charset="0"/>
              </a:rPr>
              <a:t>remediation · re-teach
early warning
CO–PO attainment</a:t>
            </a:r>
          </a:p>
        </p:txBody>
      </p:sp>
      <p:sp>
        <p:nvSpPr>
          <p:cNvPr id="17418" name="TextBox 17417"/>
          <p:cNvSpPr txBox="1"/>
          <p:nvPr/>
        </p:nvSpPr>
        <p:spPr>
          <a:xfrm>
            <a:off x="329184" y="2542032"/>
            <a:ext cx="11475720" cy="402336"/>
          </a:xfrm>
          <a:prstGeom prst="rect">
            <a:avLst/>
          </a:prstGeom>
          <a:noFill/>
        </p:spPr>
        <p:txBody>
          <a:bodyPr wrap="square" lIns="45720" rIns="45720" tIns="22860" bIns="22860"/>
          <a:lstStyle/>
          <a:p>
            <a:pPr algn="ctr" marL="0" indent="0">
              <a:lnSpc>
                <a:spcPct val="95000"/>
              </a:lnSpc>
              <a:buNone/>
            </a:pPr>
            <a:r>
              <a:rPr sz="900" b="1" i="0" u="none">
                <a:solidFill>
                  <a:srgbClr val="1F497D"/>
                </a:solidFill>
                <a:latin typeface="Arial"/>
                <a:cs typeface="Arial" pitchFamily="34" charset="0"/>
              </a:rPr>
              <a:t>The single field that connects L1 to L2 is RubricItem.concept_ids — without it you have twelve disconnected gradebooks; with it, every submission is evidence about a named competency.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329184" y="1133856"/>
            <a:ext cx="11503152" cy="4297680"/>
          </a:xfrm>
          <a:prstGeom prst="rect">
            <a:avLst/>
          </a:prstGeom>
          <a:noFill/>
          <a:ln w="9525">
            <a:noFill/>
            <a:miter lim="800000"/>
            <a:headEnd/>
            <a:tailEnd/>
          </a:ln>
        </p:spPr>
        <p:txBody>
          <a:bodyPr wrap="square" lIns="45720" rIns="45720" tIns="22860" bIns="22860"/>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Analysis of the feasibility of the idea</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Every component is proven technology in isolation; the contribution is the concept-graph spine that connects them. Nothing here needs a research breakthrough.</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The prototype already grades a full cohort end to end on commodity hardware — no GPU, no paid API on the critical path, no network access inside the sandbox.</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The highest-cost input is roughly two hours of instructor time to author the concept graph once per course. Every insight in the platform traces back to it, and it is reused every semester.</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Queue-backed autoscaling workers absorb the spike at a deadline, which is where naive designs fall over.</a:t>
            </a: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Potential challenges and risks</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Executing untrusted code written by capable people, at scale, on a deadline.</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An LLM hallucinating an expected output and silently penalising a whole cohort.</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Cold start: no labelled data in semester zero.</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False plagiarism accusations — the highest-consequence error the system can make.</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Faculty adoption: a tool that costs more time than it saves is abandoned regardless of model quality.</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Demographic bias in the early-warning model.</a:t>
            </a: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Strategies for overcoming these challenges</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Defence in depth: thirteen isolation layers, one-shot instances, workers holding nothing worth stealing, and the oracle kept outside the guest.</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Every generated test executes against the instructor's reference solution before admission; more than ~20% failing halts authoring and flags the brief as ambiguous.</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Unsupervised models (clustering, knowledge tracing) ship on day one; the LLM is a teacher that drafts and bootstraps, not a grader. Per-submission LLM cost trends to zero.</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Base-code and common-idiom exclusion plus cohort-relative outlier detection; similarity is surfaced as ranked evidence with aligned regions, and faculty decide.</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A ten-minute authoring budget and gradebook writeback so faculty never maintain two gradebooks; every override is captured as training data.</a:t>
            </a:r>
          </a:p>
          <a:p>
            <a:pPr algn="just" marL="329184" indent="-219456">
              <a:lnSpc>
                <a:spcPct val="95000"/>
              </a:lnSpc>
              <a:buFont typeface="Arial" pitchFamily="34" charset="0"/>
              <a:buChar char="•"/>
              <a:spcAft>
                <a:spcPts val="200"/>
              </a:spcAft>
            </a:pPr>
            <a:r>
              <a:rPr sz="1100" b="0" i="0" u="none">
                <a:solidFill>
                  <a:srgbClr val="1A1A1A"/>
                </a:solidFill>
                <a:latin typeface="Arial"/>
                <a:cs typeface="Arial" pitchFamily="34" charset="0"/>
              </a:rPr>
              <a:t>A demographic bias audit that blocks deployment when flag rates differ by more than 5% across any protected group, re-run every semester.</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1089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&lt; 90 s</a:t>
            </a:r>
          </a:p>
          <a:p>
            <a:pPr algn="ctr" marL="0" indent="0">
              <a:lnSpc>
                <a:spcPct val="88000"/>
              </a:lnSpc>
              <a:buNone/>
            </a:pPr>
            <a:r>
              <a:rPr sz="800" b="0" i="0" u="none">
                <a:solidFill>
                  <a:srgbClr val="1A1A1A"/>
                </a:solidFill>
                <a:latin typeface="Arial"/>
                <a:cs typeface="Arial" pitchFamily="34" charset="0"/>
              </a:rPr>
              <a:t>to grade a 24-student, four-lab cohort end to end on a laptop</a:t>
            </a:r>
          </a:p>
        </p:txBody>
      </p:sp>
      <p:sp>
        <p:nvSpPr>
          <p:cNvPr id="17412" name="Rounded Rectangle 17411"/>
          <p:cNvSpPr/>
          <p:nvPr/>
        </p:nvSpPr>
        <p:spPr>
          <a:xfrm>
            <a:off x="323697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0</a:t>
            </a:r>
          </a:p>
          <a:p>
            <a:pPr algn="ctr" marL="0" indent="0">
              <a:lnSpc>
                <a:spcPct val="88000"/>
              </a:lnSpc>
              <a:buNone/>
            </a:pPr>
            <a:r>
              <a:rPr sz="800" b="0" i="0" u="none">
                <a:solidFill>
                  <a:srgbClr val="1A1A1A"/>
                </a:solidFill>
                <a:latin typeface="Arial"/>
                <a:cs typeface="Arial" pitchFamily="34" charset="0"/>
              </a:rPr>
              <a:t>GPUs, paid API calls, or network access needed at grading time</a:t>
            </a:r>
          </a:p>
        </p:txBody>
      </p:sp>
      <p:sp>
        <p:nvSpPr>
          <p:cNvPr id="17413" name="Rounded Rectangle 17412"/>
          <p:cNvSpPr/>
          <p:nvPr/>
        </p:nvSpPr>
        <p:spPr>
          <a:xfrm>
            <a:off x="616305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~2 h</a:t>
            </a:r>
          </a:p>
          <a:p>
            <a:pPr algn="ctr" marL="0" indent="0">
              <a:lnSpc>
                <a:spcPct val="88000"/>
              </a:lnSpc>
              <a:buNone/>
            </a:pPr>
            <a:r>
              <a:rPr sz="800" b="0" i="0" u="none">
                <a:solidFill>
                  <a:srgbClr val="1A1A1A"/>
                </a:solidFill>
                <a:latin typeface="Arial"/>
                <a:cs typeface="Arial" pitchFamily="34" charset="0"/>
              </a:rPr>
              <a:t>of instructor time to author the concept graph, once per course</a:t>
            </a:r>
          </a:p>
        </p:txBody>
      </p:sp>
      <p:sp>
        <p:nvSpPr>
          <p:cNvPr id="17414" name="Rounded Rectangle 17413"/>
          <p:cNvSpPr/>
          <p:nvPr/>
        </p:nvSpPr>
        <p:spPr>
          <a:xfrm>
            <a:off x="908913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&gt; 20 %</a:t>
            </a:r>
          </a:p>
          <a:p>
            <a:pPr algn="ctr" marL="0" indent="0">
              <a:lnSpc>
                <a:spcPct val="88000"/>
              </a:lnSpc>
              <a:buNone/>
            </a:pPr>
            <a:r>
              <a:rPr sz="800" b="0" i="0" u="none">
                <a:solidFill>
                  <a:srgbClr val="1A1A1A"/>
                </a:solidFill>
                <a:latin typeface="Arial"/>
                <a:cs typeface="Arial" pitchFamily="34" charset="0"/>
              </a:rPr>
              <a:t>reference-test failure halts authoring and flags an ambiguous brief</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329184" y="1133856"/>
            <a:ext cx="11503152" cy="4297680"/>
          </a:xfrm>
          <a:prstGeom prst="rect">
            <a:avLst/>
          </a:prstGeom>
          <a:noFill/>
          <a:ln w="9525">
            <a:noFill/>
            <a:miter lim="800000"/>
            <a:headEnd/>
            <a:tailEnd/>
          </a:ln>
        </p:spPr>
        <p:txBody>
          <a:bodyPr wrap="square" lIns="45720" rIns="45720" tIns="22860" bIns="22860"/>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Potential impact on the target audience</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Students — feedback that is evidence rather than a number: "Empty-input handling 0/8. Test 11 crashed with IndexError at solution.py:14. No length guard found on the input path." A ranked next action with the reason, and one-click appeal on any rubric item.</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Faculty — a course-health landing view that answers what to re-teach, ranked by how many later concepts depend on it, plus alerts for rubric items that are measuring nothing.</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Administrators — live CO–PO attainment with per-student traceability down to individual submissions, and an at-risk view that routes to advising rather than to sanction.</a:t>
            </a:r>
          </a:p>
          <a:p>
            <a:pPr algn="l" marL="219456" indent="-219456">
              <a:lnSpc>
                <a:spcPct val="100000"/>
              </a:lnSpc>
              <a:buFont typeface="Wingdings" pitchFamily="34" charset="0"/>
              <a:buChar char="v"/>
              <a:spcBef>
                <a:spcPts val="700"/>
              </a:spcBef>
              <a:spcAft>
                <a:spcPts val="300"/>
              </a:spcAft>
            </a:pPr>
            <a:r>
              <a:rPr sz="1450" b="1" i="0" u="sng">
                <a:solidFill>
                  <a:srgbClr val="1F497D"/>
                </a:solidFill>
                <a:latin typeface="Arial"/>
                <a:cs typeface="Arial" pitchFamily="34" charset="0"/>
              </a:rPr>
              <a:t>Benefits of the solution (social, economic, environmental, etc.)</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Social — grading a student can interrogate, contest, and understand. A missing delimiter stops being worth a hundred percent of the marks. Early warning is a support route by design, and its bias audit is mandatory.</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Academic — a misconception library and a mastery model that persist across semesters, so what a cohort got wrong in 2026 informs how the topic is taught in 2027.</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Economic — faculty minutes per assignment fall semester over semester as auto-release coverage rises; NBA/NAAC attainment reporting collapses from weeks of manual work into a live view.</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Operational — deterministic-first design means most of the pipeline is a parser and a test runner, so it runs on ordinary institutional hardware with no GPU and no per-submission API spend.</a:t>
            </a:r>
          </a:p>
          <a:p>
            <a:pPr algn="just" marL="329184" indent="-219456">
              <a:lnSpc>
                <a:spcPct val="95000"/>
              </a:lnSpc>
              <a:buFont typeface="Arial" pitchFamily="34" charset="0"/>
              <a:buChar char="•"/>
              <a:spcAft>
                <a:spcPts val="200"/>
              </a:spcAft>
            </a:pPr>
            <a:r>
              <a:rPr sz="1200" b="0" i="0" u="none">
                <a:solidFill>
                  <a:srgbClr val="1A1A1A"/>
                </a:solidFill>
                <a:latin typeface="Arial"/>
                <a:cs typeface="Arial" pitchFamily="34" charset="0"/>
              </a:rPr>
              <a:t>Equity — mastery is inferred from evidence the student generated, disclosed to them, and auditable; protected attributes are used only to audit the model, never as features.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31089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70 %</a:t>
            </a:r>
          </a:p>
          <a:p>
            <a:pPr algn="ctr" marL="0" indent="0">
              <a:lnSpc>
                <a:spcPct val="88000"/>
              </a:lnSpc>
              <a:buNone/>
            </a:pPr>
            <a:r>
              <a:rPr sz="800" b="0" i="0" u="none">
                <a:solidFill>
                  <a:srgbClr val="1A1A1A"/>
                </a:solidFill>
                <a:latin typeface="Arial"/>
                <a:cs typeface="Arial" pitchFamily="34" charset="0"/>
              </a:rPr>
              <a:t>auto-release coverage target by semester 2, at under 3% override rate</a:t>
            </a:r>
          </a:p>
        </p:txBody>
      </p:sp>
      <p:sp>
        <p:nvSpPr>
          <p:cNvPr id="17412" name="Rounded Rectangle 17411"/>
          <p:cNvSpPr/>
          <p:nvPr/>
        </p:nvSpPr>
        <p:spPr>
          <a:xfrm>
            <a:off x="323697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&lt; 3 min</a:t>
            </a:r>
          </a:p>
          <a:p>
            <a:pPr algn="ctr" marL="0" indent="0">
              <a:lnSpc>
                <a:spcPct val="88000"/>
              </a:lnSpc>
              <a:buNone/>
            </a:pPr>
            <a:r>
              <a:rPr sz="800" b="0" i="0" u="none">
                <a:solidFill>
                  <a:srgbClr val="1A1A1A"/>
                </a:solidFill>
                <a:latin typeface="Arial"/>
                <a:cs typeface="Arial" pitchFamily="34" charset="0"/>
              </a:rPr>
              <a:t>p95 feedback latency target - feedback loses pedagogical value fast</a:t>
            </a:r>
          </a:p>
        </p:txBody>
      </p:sp>
      <p:sp>
        <p:nvSpPr>
          <p:cNvPr id="17413" name="Rounded Rectangle 17412"/>
          <p:cNvSpPr/>
          <p:nvPr/>
        </p:nvSpPr>
        <p:spPr>
          <a:xfrm>
            <a:off x="616305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3 weeks</a:t>
            </a:r>
          </a:p>
          <a:p>
            <a:pPr algn="ctr" marL="0" indent="0">
              <a:lnSpc>
                <a:spcPct val="88000"/>
              </a:lnSpc>
              <a:buNone/>
            </a:pPr>
            <a:r>
              <a:rPr sz="800" b="0" i="0" u="none">
                <a:solidFill>
                  <a:srgbClr val="1A1A1A"/>
                </a:solidFill>
                <a:latin typeface="Arial"/>
                <a:cs typeface="Arial" pitchFamily="34" charset="0"/>
              </a:rPr>
              <a:t>early-warning lead time before failure, routed to support</a:t>
            </a:r>
          </a:p>
        </p:txBody>
      </p:sp>
      <p:sp>
        <p:nvSpPr>
          <p:cNvPr id="17414" name="Rounded Rectangle 17413"/>
          <p:cNvSpPr/>
          <p:nvPr/>
        </p:nvSpPr>
        <p:spPr>
          <a:xfrm>
            <a:off x="9089136" y="5504688"/>
            <a:ext cx="2724912" cy="694944"/>
          </a:xfrm>
          <a:prstGeom prst="roundRect">
            <a:avLst/>
          </a:prstGeom>
          <a:solidFill>
            <a:srgbClr val="ECF2F9"/>
          </a:solidFill>
          <a:ln w="952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marL="0" indent="0">
              <a:lnSpc>
                <a:spcPct val="90000"/>
              </a:lnSpc>
              <a:buNone/>
            </a:pPr>
            <a:r>
              <a:rPr sz="1500" b="1" i="0" u="none">
                <a:solidFill>
                  <a:srgbClr val="1F497D"/>
                </a:solidFill>
                <a:latin typeface="Arial"/>
                <a:cs typeface="Arial" pitchFamily="34" charset="0"/>
              </a:rPr>
              <a:t>&lt; 5 %</a:t>
            </a:r>
          </a:p>
          <a:p>
            <a:pPr algn="ctr" marL="0" indent="0">
              <a:lnSpc>
                <a:spcPct val="88000"/>
              </a:lnSpc>
              <a:buNone/>
            </a:pPr>
            <a:r>
              <a:rPr sz="800" b="0" i="0" u="none">
                <a:solidFill>
                  <a:srgbClr val="1A1A1A"/>
                </a:solidFill>
                <a:latin typeface="Arial"/>
                <a:cs typeface="Arial" pitchFamily="34" charset="0"/>
              </a:rPr>
              <a:t>maximum early-warning flag-rate gap across any protected group</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329184" y="1133856"/>
            <a:ext cx="11503152" cy="4297680"/>
          </a:xfrm>
          <a:prstGeom prst="rect">
            <a:avLst/>
          </a:prstGeom>
          <a:noFill/>
          <a:ln w="9525">
            <a:noFill/>
            <a:miter lim="800000"/>
            <a:headEnd/>
            <a:tailEnd/>
          </a:ln>
        </p:spPr>
        <p:txBody>
          <a:bodyPr wrap="square" lIns="45720" rIns="45720" tIns="22860" bIns="22860"/>
          <a:lstStyle/>
          <a:p>
            <a:pPr algn="l" marL="219456" indent="-219456">
              <a:lnSpc>
                <a:spcPct val="100000"/>
              </a:lnSpc>
              <a:buFont typeface="Wingdings" pitchFamily="34" charset="0"/>
              <a:buChar char="v"/>
              <a:spcAft>
                <a:spcPts val="700"/>
              </a:spcAft>
            </a:pPr>
            <a:r>
              <a:rPr sz="1500" b="1" i="0" u="sng">
                <a:solidFill>
                  <a:srgbClr val="1F497D"/>
                </a:solidFill>
                <a:latin typeface="Arial"/>
                <a:cs typeface="Arial" pitchFamily="34" charset="0"/>
              </a:rPr>
              <a:t>Details / Links of the reference and research work</a:t>
            </a:r>
          </a:p>
          <a:p>
            <a:pPr algn="l" marL="219456" indent="-219456">
              <a:lnSpc>
                <a:spcPct val="95000"/>
              </a:lnSpc>
              <a:buFont typeface="Arial" pitchFamily="34" charset="0"/>
              <a:buChar char="•"/>
              <a:spcBef>
                <a:spcPts val="300"/>
              </a:spcBef>
              <a:spcAft>
                <a:spcPts val="100"/>
              </a:spcAft>
            </a:pPr>
            <a:r>
              <a:rPr sz="1200" b="1" i="0" u="none">
                <a:solidFill>
                  <a:srgbClr val="0070C0"/>
                </a:solidFill>
                <a:latin typeface="Arial"/>
                <a:cs typeface="Arial" pitchFamily="34" charset="0"/>
              </a:rPr>
              <a:t>Integrity and code similarity</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Schleimer, Wilkerson &amp; Aiken — "Winnowing: Local Algorithms for Document Fingerprinting", ACM SIGMOD 2003 (the MOSS algorithm).</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Ragkhitwetsagul, Krinke &amp; Clark — "A comparison of code similarity analysers", Empirical Software Engineering, 2018.</a:t>
            </a:r>
          </a:p>
          <a:p>
            <a:pPr algn="l" marL="219456" indent="-219456">
              <a:lnSpc>
                <a:spcPct val="95000"/>
              </a:lnSpc>
              <a:buFont typeface="Arial" pitchFamily="34" charset="0"/>
              <a:buChar char="•"/>
              <a:spcBef>
                <a:spcPts val="300"/>
              </a:spcBef>
              <a:spcAft>
                <a:spcPts val="100"/>
              </a:spcAft>
            </a:pPr>
            <a:r>
              <a:rPr sz="1200" b="1" i="0" u="none">
                <a:solidFill>
                  <a:srgbClr val="0070C0"/>
                </a:solidFill>
                <a:latin typeface="Arial"/>
                <a:cs typeface="Arial" pitchFamily="34" charset="0"/>
              </a:rPr>
              <a:t>Knowledge tracing and learning analytics</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Corbett &amp; Anderson — "Knowledge Tracing: Modeling the Acquisition of Procedural Knowledge", User Modeling and User-Adapted Interaction, 1994.</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Pardos &amp; Heffernan — "Modeling Individualization in a Bayesian Networks Implementation of Knowledge Tracing", UMAP 2010.</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Ebel &amp; Frisbie — Essentials of Educational Measurement (item difficulty, point-biserial discrimination).</a:t>
            </a:r>
          </a:p>
          <a:p>
            <a:pPr algn="l" marL="219456" indent="-219456">
              <a:lnSpc>
                <a:spcPct val="95000"/>
              </a:lnSpc>
              <a:buFont typeface="Arial" pitchFamily="34" charset="0"/>
              <a:buChar char="•"/>
              <a:spcBef>
                <a:spcPts val="300"/>
              </a:spcBef>
              <a:spcAft>
                <a:spcPts val="100"/>
              </a:spcAft>
            </a:pPr>
            <a:r>
              <a:rPr sz="1200" b="1" i="0" u="none">
                <a:solidFill>
                  <a:srgbClr val="0070C0"/>
                </a:solidFill>
                <a:latin typeface="Arial"/>
                <a:cs typeface="Arial" pitchFamily="34" charset="0"/>
              </a:rPr>
              <a:t>Program analysis and partial credit</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Pawlik &amp; Augsten — "Tree edit distance: Robust and memory-efficient" (APTED), Information Systems, 2016.</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Gulwani, Radiček &amp; Zuleger — "Automated Clustering and Program Repair for Introductory Programming Assignments", PLDI 2018.</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tree-sitter — incremental, error-tolerant parsing library, https://tree-sitter.github.io</a:t>
            </a:r>
          </a:p>
          <a:p>
            <a:pPr algn="l" marL="219456" indent="-219456">
              <a:lnSpc>
                <a:spcPct val="95000"/>
              </a:lnSpc>
              <a:buFont typeface="Arial" pitchFamily="34" charset="0"/>
              <a:buChar char="•"/>
              <a:spcBef>
                <a:spcPts val="300"/>
              </a:spcBef>
              <a:spcAft>
                <a:spcPts val="100"/>
              </a:spcAft>
            </a:pPr>
            <a:r>
              <a:rPr sz="1200" b="1" i="0" u="none">
                <a:solidFill>
                  <a:srgbClr val="0070C0"/>
                </a:solidFill>
                <a:latin typeface="Arial"/>
                <a:cs typeface="Arial" pitchFamily="34" charset="0"/>
              </a:rPr>
              <a:t>Clustering, NLI, and sandboxing</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Campello, Moulavi &amp; Sander — "Density-Based Clustering Based on Hierarchical Density Estimates" (HDBSCAN), PAKDD 2013.</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He, Gao &amp; Chen — "DeBERTaV3: Improving DeBERTa using ELECTRA-Style Pre-Training", ICLR 2023.</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Agache et al. — "Firecracker: Lightweight Virtualization for Serverless Applications", USENIX NSDI 2020.</a:t>
            </a:r>
          </a:p>
          <a:p>
            <a:pPr algn="l" marL="219456" indent="-219456">
              <a:lnSpc>
                <a:spcPct val="95000"/>
              </a:lnSpc>
              <a:buFont typeface="Arial" pitchFamily="34" charset="0"/>
              <a:buChar char="•"/>
              <a:spcBef>
                <a:spcPts val="300"/>
              </a:spcBef>
              <a:spcAft>
                <a:spcPts val="100"/>
              </a:spcAft>
            </a:pPr>
            <a:r>
              <a:rPr sz="1200" b="1" i="0" u="none">
                <a:solidFill>
                  <a:srgbClr val="0070C0"/>
                </a:solidFill>
                <a:latin typeface="Arial"/>
                <a:cs typeface="Arial" pitchFamily="34" charset="0"/>
              </a:rPr>
              <a:t>Standards and institutional context</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1EdTech (IMS Global) — Learning Tools Interoperability 1.3 and Assignment and Grade Services, https://www.imsglobal.org/spec/lti/v1p3</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National Board of Accreditation, India — CO–PO attainment guidelines for UG engineering programmes.</a:t>
            </a:r>
          </a:p>
          <a:p>
            <a:pPr algn="l" marL="493776" indent="-219456">
              <a:lnSpc>
                <a:spcPct val="95000"/>
              </a:lnSpc>
              <a:buFont typeface="Arial" pitchFamily="34" charset="0"/>
              <a:buChar char="–"/>
              <a:spcAft>
                <a:spcPts val="100"/>
              </a:spcAft>
            </a:pPr>
            <a:r>
              <a:rPr sz="1000" b="0" i="0" u="none">
                <a:solidFill>
                  <a:srgbClr val="1A1A1A"/>
                </a:solidFill>
                <a:latin typeface="Arial"/>
                <a:cs typeface="Arial" pitchFamily="34" charset="0"/>
              </a:rPr>
              <a:t>Digital Personal Data Protection Act, 2023 (India) — treatment of inferred attributes as personal data.</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TextBox 17410"/>
          <p:cNvSpPr txBox="1"/>
          <p:nvPr/>
        </p:nvSpPr>
        <p:spPr>
          <a:xfrm>
            <a:off x="310896" y="5559552"/>
            <a:ext cx="11576304" cy="566928"/>
          </a:xfrm>
          <a:prstGeom prst="rect">
            <a:avLst/>
          </a:prstGeom>
          <a:solidFill>
            <a:srgbClr val="ECF2F9"/>
          </a:solidFill>
          <a:ln w="9525">
            <a:solidFill>
              <a:srgbClr val="4F81BD"/>
            </a:solidFill>
          </a:ln>
        </p:spPr>
        <p:txBody>
          <a:bodyPr wrap="square" lIns="45720" rIns="45720" tIns="22860" bIns="22860" anchor="ctr"/>
          <a:lstStyle/>
          <a:p>
            <a:pPr algn="ctr" marL="0" indent="0">
              <a:lnSpc>
                <a:spcPct val="95000"/>
              </a:lnSpc>
              <a:buNone/>
            </a:pPr>
            <a:r>
              <a:rPr sz="1200" b="1" i="0" u="none">
                <a:solidFill>
                  <a:srgbClr val="1F497D"/>
                </a:solidFill>
                <a:latin typeface="Arial"/>
                <a:cs typeface="Arial" pitchFamily="34" charset="0"/>
              </a:rPr>
              <a:t>Working prototype and full architecture specification: github.com/Varshith-06/evalpro</a:t>
            </a:r>
          </a:p>
          <a:p>
            <a:pPr algn="ctr" marL="0" indent="0">
              <a:lnSpc>
                <a:spcPct val="92000"/>
              </a:lnSpc>
              <a:buNone/>
            </a:pPr>
            <a:r>
              <a:rPr sz="900" b="0" i="0" u="none">
                <a:solidFill>
                  <a:srgbClr val="1A1A1A"/>
                </a:solidFill>
                <a:latin typeface="Arial"/>
                <a:cs typeface="Arial" pitchFamily="34" charset="0"/>
              </a:rPr>
              <a:t>The demo course builds itself on first run - every score, mastery estimate and attainment figure in it is produced by the real cascade, not seeded.</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