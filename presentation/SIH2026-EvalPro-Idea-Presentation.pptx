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1920240"/>
            <a:ext cx="5669280" cy="4617720"/>
          </a:xfrm>
          <a:prstGeom prst="rect">
            <a:avLst/>
          </a:prstGeom>
          <a:noFill/>
        </p:spPr>
        <p:txBody>
          <a:bodyPr wrap="square" rtlCol="0" lIns="45720" rIns="45720" tIns="22860" bIns="22860"/>
          <a:lstStyle/>
          <a:p>
            <a:pPr algn="l" marL="219456" indent="-219456">
              <a:lnSpc>
                <a:spcPct val="112000"/>
              </a:lnSpc>
              <a:buFont typeface="Arial" pitchFamily="34" charset="0"/>
              <a:buChar char="•"/>
              <a:spcAft>
                <a:spcPts val="1400"/>
              </a:spcAft>
            </a:pPr>
            <a:r>
              <a:rPr sz="1550" b="1" i="0" u="none">
                <a:solidFill>
                  <a:srgbClr val="1A1A1A"/>
                </a:solidFill>
                <a:latin typeface="Arial"/>
                <a:cs typeface="Arial" pitchFamily="34" charset="0"/>
              </a:rPr>
              <a:t>Problem Statement ID – </a:t>
            </a:r>
            <a:r>
              <a:rPr sz="1550" b="0" i="0" u="none">
                <a:solidFill>
                  <a:srgbClr val="1F497D"/>
                </a:solidFill>
                <a:latin typeface="Arial"/>
                <a:cs typeface="Arial" pitchFamily="34" charset="0"/>
              </a:rPr>
              <a:t>[Problem Statement ID from the SIH portal]</a:t>
            </a:r>
            <a:endParaRPr lang="en-US" dirty="0"/>
          </a:p>
          <a:p>
            <a:pPr algn="l" marL="219456" indent="-219456">
              <a:lnSpc>
                <a:spcPct val="112000"/>
              </a:lnSpc>
              <a:buFont typeface="Arial" pitchFamily="34" charset="0"/>
              <a:buChar char="•"/>
              <a:spcAft>
                <a:spcPts val="1400"/>
              </a:spcAft>
            </a:pPr>
            <a:r>
              <a:rPr sz="1550" b="1" i="0" u="none">
                <a:solidFill>
                  <a:srgbClr val="1A1A1A"/>
                </a:solidFill>
                <a:latin typeface="Arial"/>
                <a:cs typeface="Arial" pitchFamily="34" charset="0"/>
              </a:rPr>
              <a:t>Problem Statement Title – </a:t>
            </a:r>
            <a:r>
              <a:rPr sz="1550" b="0" i="0" u="none">
                <a:solidFill>
                  <a:srgbClr val="1F497D"/>
                </a:solidFill>
                <a:latin typeface="Arial"/>
                <a:cs typeface="Arial" pitchFamily="34" charset="0"/>
              </a:rPr>
              <a:t>Automated Programming Lab Evaluation Platform</a:t>
            </a:r>
          </a:p>
          <a:p>
            <a:pPr algn="l" marL="219456" indent="-219456">
              <a:lnSpc>
                <a:spcPct val="112000"/>
              </a:lnSpc>
              <a:buFont typeface="Arial" pitchFamily="34" charset="0"/>
              <a:buChar char="•"/>
              <a:spcAft>
                <a:spcPts val="1400"/>
              </a:spcAft>
            </a:pPr>
            <a:r>
              <a:rPr sz="1550" b="1" i="0" u="none">
                <a:solidFill>
                  <a:srgbClr val="1A1A1A"/>
                </a:solidFill>
                <a:latin typeface="Arial"/>
                <a:cs typeface="Arial" pitchFamily="34" charset="0"/>
              </a:rPr>
              <a:t>Theme – </a:t>
            </a:r>
            <a:r>
              <a:rPr sz="1550" b="0" i="0" u="none">
                <a:solidFill>
                  <a:srgbClr val="1F497D"/>
                </a:solidFill>
                <a:latin typeface="Arial"/>
                <a:cs typeface="Arial" pitchFamily="34" charset="0"/>
              </a:rPr>
              <a:t>Smart Education</a:t>
            </a:r>
          </a:p>
          <a:p>
            <a:pPr algn="l" marL="219456" indent="-219456">
              <a:lnSpc>
                <a:spcPct val="112000"/>
              </a:lnSpc>
              <a:buFont typeface="Arial" pitchFamily="34" charset="0"/>
              <a:buChar char="•"/>
              <a:spcAft>
                <a:spcPts val="1400"/>
              </a:spcAft>
            </a:pPr>
            <a:r>
              <a:rPr sz="1550" b="1" i="0" u="none">
                <a:solidFill>
                  <a:srgbClr val="1A1A1A"/>
                </a:solidFill>
                <a:latin typeface="Arial"/>
                <a:cs typeface="Arial" pitchFamily="34" charset="0"/>
              </a:rPr>
              <a:t>PS Category – </a:t>
            </a:r>
            <a:r>
              <a:rPr sz="1550" b="0" i="0" u="none">
                <a:solidFill>
                  <a:srgbClr val="1F497D"/>
                </a:solidFill>
                <a:latin typeface="Arial"/>
                <a:cs typeface="Arial" pitchFamily="34" charset="0"/>
              </a:rPr>
              <a:t>Software</a:t>
            </a:r>
          </a:p>
          <a:p>
            <a:pPr algn="l" marL="219456" indent="-219456">
              <a:lnSpc>
                <a:spcPct val="112000"/>
              </a:lnSpc>
              <a:buFont typeface="Arial" pitchFamily="34" charset="0"/>
              <a:buChar char="•"/>
              <a:spcAft>
                <a:spcPts val="1400"/>
              </a:spcAft>
            </a:pPr>
            <a:r>
              <a:rPr sz="1550" b="1" i="0" u="none">
                <a:solidFill>
                  <a:srgbClr val="1A1A1A"/>
                </a:solidFill>
                <a:latin typeface="Arial"/>
                <a:cs typeface="Arial" pitchFamily="34" charset="0"/>
              </a:rPr>
              <a:t>Team ID – </a:t>
            </a:r>
            <a:r>
              <a:rPr sz="1550" b="0" i="0" u="none">
                <a:solidFill>
                  <a:srgbClr val="1F497D"/>
                </a:solidFill>
                <a:latin typeface="Arial"/>
                <a:cs typeface="Arial" pitchFamily="34" charset="0"/>
              </a:rPr>
              <a:t>[Team ID from the SIH portal]</a:t>
            </a:r>
          </a:p>
          <a:p>
            <a:pPr algn="l" marL="219456" indent="-219456">
              <a:lnSpc>
                <a:spcPct val="112000"/>
              </a:lnSpc>
              <a:buFont typeface="Arial" pitchFamily="34" charset="0"/>
              <a:buChar char="•"/>
              <a:spcAft>
                <a:spcPts val="1400"/>
              </a:spcAft>
            </a:pPr>
            <a:r>
              <a:rPr sz="1550" b="1" i="0" u="none">
                <a:solidFill>
                  <a:srgbClr val="1A1A1A"/>
                </a:solidFill>
                <a:latin typeface="Arial"/>
                <a:cs typeface="Arial" pitchFamily="34" charset="0"/>
              </a:rPr>
              <a:t>Team Name (Registered on portal) – </a:t>
            </a:r>
            <a:r>
              <a:rPr sz="1550" b="0" i="0" u="none">
                <a:solidFill>
                  <a:srgbClr val="1F497D"/>
                </a:solidFill>
                <a:latin typeface="Arial"/>
                <a:cs typeface="Arial" pitchFamily="34" charset="0"/>
              </a:rPr>
              <a:t>[Team Name as registered on the portal]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19072" y="201168"/>
            <a:ext cx="7973568" cy="731520"/>
          </a:xfrm>
        </p:spPr>
        <p:txBody>
          <a:bodyPr/>
          <a:lstStyle/>
          <a:p>
            <a:pPr eaLnBrk="1" hangingPunct="1" algn="l" marL="0" indent="0">
              <a:lnSpc>
                <a:spcPct val="100000"/>
              </a:lnSpc>
              <a:buNone/>
            </a:pPr>
            <a:r>
              <a:rPr sz="2400" b="1" i="0" u="none">
                <a:solidFill>
                  <a:srgbClr val="1F497D"/>
                </a:solidFill>
                <a:latin typeface="Times New Roman"/>
                <a:cs typeface="Times New Roman" pitchFamily="34" charset="0"/>
              </a:rPr>
              <a:t>EvalPro - Programming Labs That Mark Themselves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184" y="1188720"/>
            <a:ext cx="11503152" cy="4992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 tIns="22860" bIns="22860"/>
          <a:lstStyle/>
          <a:p>
            <a:pPr marL="219456" indent="-219456" algn="l">
              <a:lnSpc>
                <a:spcPct val="100000"/>
              </a:lnSpc>
              <a:buFont typeface="Wingdings" pitchFamily="34" charset="0"/>
              <a:buChar char="v"/>
              <a:spcAft>
                <a:spcPts val="1100"/>
              </a:spcAft>
            </a:pPr>
            <a:r>
              <a:rPr sz="20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 marL="219456" indent="-219456">
              <a:lnSpc>
                <a:spcPct val="100000"/>
              </a:lnSpc>
              <a:buFont typeface="Wingdings" pitchFamily="34" charset="0"/>
              <a:buChar char="v"/>
              <a:spcBef>
                <a:spcPts val="2000"/>
              </a:spcBef>
              <a:spcAft>
                <a:spcPts val="600"/>
              </a:spcAft>
            </a:pPr>
            <a:r>
              <a:rPr sz="18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Detailed explanation of the proposed solution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A student submits their lab program. It is run, marked, and every mark is explained.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Each mark is tied to a topic, so a student sees which topic is weak - not just which lab.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Those marks add up across the semester into a picture of what each student understands.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A student who thinks a mark is wrong can challenge it, and a teacher answers.</a:t>
            </a:r>
          </a:p>
          <a:p>
            <a:pPr algn="l" marL="219456" indent="-219456">
              <a:lnSpc>
                <a:spcPct val="100000"/>
              </a:lnSpc>
              <a:buFont typeface="Wingdings" pitchFamily="34" charset="0"/>
              <a:buChar char="v"/>
              <a:spcBef>
                <a:spcPts val="2000"/>
              </a:spcBef>
              <a:spcAft>
                <a:spcPts val="600"/>
              </a:spcAft>
            </a:pPr>
            <a:r>
              <a:rPr sz="18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How it addresses the problem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Collects labs, submissions and class lists from the college's existing system.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Analyses each submission, each student, each question and the whole class.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Groups the class's mistakes, so a teacher sees the few things most people got wrong.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Flags students slipping behind while there is still time to help them.</a:t>
            </a:r>
          </a:p>
          <a:p>
            <a:pPr algn="l" marL="219456" indent="-219456">
              <a:lnSpc>
                <a:spcPct val="100000"/>
              </a:lnSpc>
              <a:buFont typeface="Wingdings" pitchFamily="34" charset="0"/>
              <a:buChar char="v"/>
              <a:spcBef>
                <a:spcPts val="2000"/>
              </a:spcBef>
              <a:spcAft>
                <a:spcPts val="600"/>
              </a:spcAft>
            </a:pPr>
            <a:r>
              <a:rPr sz="18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Innovation and uniqueness of the solution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It marks the thinking, not just the output - a right idea with one wrong line still scores.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The answer key never touches the student's program, so it cannot be copied.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It marks the question paper too - unclear questions are flagged to the teacher.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It spots copied work by showing the matching lines - the teacher decides, not the machine.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It checks its own fairness: if it marks one group differently, it says so before results go out.</a:t>
            </a:r>
          </a:p>
          <a:p>
            <a:pPr algn="l" marL="329184" indent="-219456">
              <a:lnSpc>
                <a:spcPct val="112000"/>
              </a:lnSpc>
              <a:buFont typeface="Arial" pitchFamily="34" charset="0"/>
              <a:buChar char="•"/>
              <a:spcAft>
                <a:spcPts val="600"/>
              </a:spcAft>
            </a:pPr>
            <a:r>
              <a:rPr sz="16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When it is unsure, it says so and hands the work to a human.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184" y="3310128"/>
            <a:ext cx="11503152" cy="2907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 tIns="22860" bIns="22860"/>
          <a:lstStyle/>
          <a:p>
            <a:pPr marL="219456" indent="-219456" algn="l">
              <a:lnSpc>
                <a:spcPct val="100000"/>
              </a:lnSpc>
              <a:buFont typeface="Wingdings" pitchFamily="34" charset="0"/>
              <a:buChar char="v"/>
              <a:spcAft>
                <a:spcPts val="600"/>
              </a:spcAft>
            </a:pPr>
            <a:r>
              <a:rPr sz="15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Technologies to be used (e.g. programming languages, frameworks, hardware)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Python and FastAPI, with a plain web interface that runs in any browser.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Student programs run inside a sealed sandbox, away from college systems.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Proven methods for marking, plagiarism checking and tracking what a learner knows.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Ordinary hardware - no GPU, and no paid AI service to mark a submission.</a:t>
            </a:r>
          </a:p>
          <a:p>
            <a:pPr algn="l" marL="219456" indent="-219456">
              <a:lnSpc>
                <a:spcPct val="100000"/>
              </a:lnSpc>
              <a:buFont typeface="Wingdings" pitchFamily="34" charset="0"/>
              <a:buChar char="v"/>
              <a:spcBef>
                <a:spcPts val="1100"/>
              </a:spcBef>
              <a:spcAft>
                <a:spcPts val="600"/>
              </a:spcAft>
            </a:pPr>
            <a:r>
              <a:rPr sz="15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Methodology and process for implementation (Flow Charts/Images/ working prototype)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The teacher writes the question in plain English; the platform shows what it will check before anything is published.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Working prototype: a class of 24 students across four labs, marked end to end.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29184" y="1115568"/>
            <a:ext cx="2615184" cy="1481328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 marL="0" indent="0">
              <a:lnSpc>
                <a:spcPct val="100000"/>
              </a:lnSpc>
              <a:buNone/>
              <a:spcAft>
                <a:spcPts val="40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  <a:cs typeface="Arial" pitchFamily="34" charset="0"/>
              </a:rPr>
              <a:t>1.  COLLECT</a:t>
            </a:r>
          </a:p>
          <a:p>
            <a:pPr algn="ctr" marL="0" indent="0">
              <a:lnSpc>
                <a:spcPct val="106000"/>
              </a:lnSpc>
              <a:buNone/>
            </a:pPr>
            <a:r>
              <a:rPr sz="950" b="0" i="0" u="none">
                <a:solidFill>
                  <a:srgbClr val="FFFFFF"/>
                </a:solidFill>
                <a:latin typeface="Arial"/>
                <a:cs typeface="Arial" pitchFamily="34" charset="0"/>
              </a:rPr>
              <a:t>lab questions, submissions
and class lists, from the
college's existing system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2944368" y="1856232"/>
            <a:ext cx="292608" cy="0"/>
          </a:xfrm>
          <a:prstGeom prst="line">
            <a:avLst/>
          </a:prstGeom>
          <a:ln w="2857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Rounded Rectangle 17412"/>
          <p:cNvSpPr/>
          <p:nvPr/>
        </p:nvSpPr>
        <p:spPr>
          <a:xfrm>
            <a:off x="3236976" y="1115568"/>
            <a:ext cx="2615184" cy="1481328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 marL="0" indent="0">
              <a:lnSpc>
                <a:spcPct val="100000"/>
              </a:lnSpc>
              <a:buNone/>
              <a:spcAft>
                <a:spcPts val="40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  <a:cs typeface="Arial" pitchFamily="34" charset="0"/>
              </a:rPr>
              <a:t>2.  MARK</a:t>
            </a:r>
          </a:p>
          <a:p>
            <a:pPr algn="ctr" marL="0" indent="0">
              <a:lnSpc>
                <a:spcPct val="106000"/>
              </a:lnSpc>
              <a:buNone/>
            </a:pPr>
            <a:r>
              <a:rPr sz="950" b="0" i="0" u="none">
                <a:solidFill>
                  <a:srgbClr val="FFFFFF"/>
                </a:solidFill>
                <a:latin typeface="Arial"/>
                <a:cs typeface="Arial" pitchFamily="34" charset="0"/>
              </a:rPr>
              <a:t>run the program safely,
check it against the rubric,
explain every mark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5852160" y="1856232"/>
            <a:ext cx="292608" cy="0"/>
          </a:xfrm>
          <a:prstGeom prst="line">
            <a:avLst/>
          </a:prstGeom>
          <a:ln w="2857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6144768" y="1115568"/>
            <a:ext cx="2615184" cy="1481328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 marL="0" indent="0">
              <a:lnSpc>
                <a:spcPct val="100000"/>
              </a:lnSpc>
              <a:buNone/>
              <a:spcAft>
                <a:spcPts val="40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  <a:cs typeface="Arial" pitchFamily="34" charset="0"/>
              </a:rPr>
              <a:t>3.  UNDERSTAND</a:t>
            </a:r>
          </a:p>
          <a:p>
            <a:pPr algn="ctr" marL="0" indent="0">
              <a:lnSpc>
                <a:spcPct val="106000"/>
              </a:lnSpc>
              <a:buNone/>
            </a:pPr>
            <a:r>
              <a:rPr sz="950" b="0" i="0" u="none">
                <a:solidFill>
                  <a:srgbClr val="FFFFFF"/>
                </a:solidFill>
                <a:latin typeface="Arial"/>
                <a:cs typeface="Arial" pitchFamily="34" charset="0"/>
              </a:rPr>
              <a:t>build a picture of which
topics each student
has actually got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8759952" y="1856232"/>
            <a:ext cx="292608" cy="0"/>
          </a:xfrm>
          <a:prstGeom prst="line">
            <a:avLst/>
          </a:prstGeom>
          <a:ln w="2857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9052560" y="1115568"/>
            <a:ext cx="2615184" cy="1481328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 marL="0" indent="0">
              <a:lnSpc>
                <a:spcPct val="100000"/>
              </a:lnSpc>
              <a:buNone/>
              <a:spcAft>
                <a:spcPts val="40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  <a:cs typeface="Arial" pitchFamily="34" charset="0"/>
              </a:rPr>
              <a:t>4.  ACT</a:t>
            </a:r>
          </a:p>
          <a:p>
            <a:pPr algn="ctr" marL="0" indent="0">
              <a:lnSpc>
                <a:spcPct val="106000"/>
              </a:lnSpc>
              <a:buNone/>
            </a:pPr>
            <a:r>
              <a:rPr sz="950" b="0" i="0" u="none">
                <a:solidFill>
                  <a:srgbClr val="FFFFFF"/>
                </a:solidFill>
                <a:latin typeface="Arial"/>
                <a:cs typeface="Arial" pitchFamily="34" charset="0"/>
              </a:rPr>
              <a:t>tell students what to revise,
tell teachers what to reteach,
report on the course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29184" y="2651760"/>
            <a:ext cx="11475720" cy="402336"/>
          </a:xfrm>
          <a:prstGeom prst="rect">
            <a:avLst/>
          </a:prstGeom>
          <a:noFill/>
        </p:spPr>
        <p:txBody>
          <a:bodyPr wrap="square" lIns="45720" rIns="45720" tIns="22860" bIns="22860"/>
          <a:lstStyle/>
          <a:p>
            <a:pPr algn="ctr" marL="0" indent="0">
              <a:lnSpc>
                <a:spcPct val="104000"/>
              </a:lnSpc>
              <a:buNone/>
            </a:pPr>
            <a:r>
              <a:rPr sz="1150" b="1" i="0" u="none">
                <a:solidFill>
                  <a:srgbClr val="1F497D"/>
                </a:solidFill>
                <a:latin typeface="Arial"/>
                <a:cs typeface="Arial" pitchFamily="34" charset="0"/>
              </a:rPr>
              <a:t>Every mark is tied to a topic. That one link is what turns a pile of lab marks into a picture of what a student actually understands.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184" y="1188720"/>
            <a:ext cx="11503152" cy="420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 tIns="22860" bIns="22860"/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 marL="219456" indent="-219456">
              <a:lnSpc>
                <a:spcPct val="100000"/>
              </a:lnSpc>
              <a:buFont typeface="Wingdings" pitchFamily="34" charset="0"/>
              <a:buChar char="v"/>
              <a:spcBef>
                <a:spcPts val="1300"/>
              </a:spcBef>
              <a:spcAft>
                <a:spcPts val="600"/>
              </a:spcAft>
            </a:pPr>
            <a:r>
              <a:rPr sz="16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Analysis of the feasibility of the idea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It already works. Nothing here waits on a research breakthrough.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Runs on a normal laptop or a small college server.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Fits the tools a college already uses, so marks return to the existing gradebook.</a:t>
            </a:r>
          </a:p>
          <a:p>
            <a:pPr algn="l" marL="219456" indent="-219456">
              <a:lnSpc>
                <a:spcPct val="100000"/>
              </a:lnSpc>
              <a:buFont typeface="Wingdings" pitchFamily="34" charset="0"/>
              <a:buChar char="v"/>
              <a:spcBef>
                <a:spcPts val="1300"/>
              </a:spcBef>
              <a:spcAft>
                <a:spcPts val="600"/>
              </a:spcAft>
            </a:pPr>
            <a:r>
              <a:rPr sz="16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Potential challenges and risks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Running students' programs safely on our own machine.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A wrong automatic mark loses a class's trust very quickly.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Wrongly accusing a student of copying.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Teachers abandoning anything that costs more time than it saves.</a:t>
            </a:r>
          </a:p>
          <a:p>
            <a:pPr algn="l" marL="219456" indent="-219456">
              <a:lnSpc>
                <a:spcPct val="100000"/>
              </a:lnSpc>
              <a:buFont typeface="Wingdings" pitchFamily="34" charset="0"/>
              <a:buChar char="v"/>
              <a:spcBef>
                <a:spcPts val="1300"/>
              </a:spcBef>
              <a:spcAft>
                <a:spcPts val="600"/>
              </a:spcAft>
            </a:pPr>
            <a:r>
              <a:rPr sz="16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Strategies for overcoming these challenges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Every program runs sealed off from everything else, then is destroyed.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Unsure work goes to the teacher, and any student can question any mark.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For copying we show the matching lines only. The teacher decides.</a:t>
            </a:r>
          </a:p>
          <a:p>
            <a:pPr algn="l" marL="329184" indent="-219456">
              <a:lnSpc>
                <a:spcPct val="106000"/>
              </a:lnSpc>
              <a:buFont typeface="Arial" pitchFamily="34" charset="0"/>
              <a:buChar char="•"/>
              <a:spcAft>
                <a:spcPts val="400"/>
              </a:spcAft>
            </a:pPr>
            <a:r>
              <a:rPr sz="13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Ten-minute setup, and every correction a teacher makes trains the system.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10896" y="5504688"/>
            <a:ext cx="3712464" cy="694944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 marL="0" indent="0">
              <a:lnSpc>
                <a:spcPct val="100000"/>
              </a:lnSpc>
              <a:buNone/>
            </a:pPr>
            <a:r>
              <a:rPr sz="1600" b="1" i="0" u="none">
                <a:solidFill>
                  <a:srgbClr val="1F497D"/>
                </a:solidFill>
                <a:latin typeface="Arial"/>
                <a:cs typeface="Arial" pitchFamily="34" charset="0"/>
              </a:rPr>
              <a:t>Already built</a:t>
            </a:r>
          </a:p>
          <a:p>
            <a:pPr algn="ctr" marL="0" indent="0">
              <a:lnSpc>
                <a:spcPct val="104000"/>
              </a:lnSpc>
              <a:buNone/>
            </a:pPr>
            <a:r>
              <a:rPr sz="10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a class of 24 students and four labs, marked end to end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42816" y="5504688"/>
            <a:ext cx="3712464" cy="694944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 marL="0" indent="0">
              <a:lnSpc>
                <a:spcPct val="100000"/>
              </a:lnSpc>
              <a:buNone/>
            </a:pPr>
            <a:r>
              <a:rPr sz="1600" b="1" i="0" u="none">
                <a:solidFill>
                  <a:srgbClr val="1F497D"/>
                </a:solidFill>
                <a:latin typeface="Arial"/>
                <a:cs typeface="Arial" pitchFamily="34" charset="0"/>
              </a:rPr>
              <a:t>~10 minutes</a:t>
            </a:r>
          </a:p>
          <a:p>
            <a:pPr algn="ctr" marL="0" indent="0">
              <a:lnSpc>
                <a:spcPct val="104000"/>
              </a:lnSpc>
              <a:buNone/>
            </a:pPr>
            <a:r>
              <a:rPr sz="10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for a teacher to set up one lab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74736" y="5504688"/>
            <a:ext cx="3712464" cy="694944"/>
          </a:xfrm>
          <a:prstGeom prst="roundRect">
            <a:avLst/>
          </a:prstGeom>
          <a:solidFill>
            <a:srgbClr val="ECF2F9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 marL="0" indent="0">
              <a:lnSpc>
                <a:spcPct val="100000"/>
              </a:lnSpc>
              <a:buNone/>
            </a:pPr>
            <a:r>
              <a:rPr sz="1600" b="1" i="0" u="none">
                <a:solidFill>
                  <a:srgbClr val="1F497D"/>
                </a:solidFill>
                <a:latin typeface="Arial"/>
                <a:cs typeface="Arial" pitchFamily="34" charset="0"/>
              </a:rPr>
              <a:t>No extra cost</a:t>
            </a:r>
          </a:p>
          <a:p>
            <a:pPr algn="ctr" marL="0" indent="0">
              <a:lnSpc>
                <a:spcPct val="104000"/>
              </a:lnSpc>
              <a:buNone/>
            </a:pPr>
            <a:r>
              <a:rPr sz="10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ordinary hardware, no paid AI service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184" y="1389888"/>
            <a:ext cx="11503152" cy="4791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 tIns="22860" bIns="22860"/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 algn="l" marL="219456" indent="-219456">
              <a:lnSpc>
                <a:spcPct val="100000"/>
              </a:lnSpc>
              <a:buFont typeface="Wingdings" pitchFamily="34" charset="0"/>
              <a:buChar char="v"/>
              <a:spcBef>
                <a:spcPts val="3400"/>
              </a:spcBef>
              <a:spcAft>
                <a:spcPts val="600"/>
              </a:spcAft>
            </a:pPr>
            <a:r>
              <a:rPr sz="20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Potential impact on the target audience</a:t>
            </a:r>
          </a:p>
          <a:p>
            <a:pPr algn="l" marL="329184" indent="-219456">
              <a:lnSpc>
                <a:spcPct val="118000"/>
              </a:lnSpc>
              <a:buFont typeface="Arial" pitchFamily="34" charset="0"/>
              <a:buChar char="•"/>
              <a:spcAft>
                <a:spcPts val="1300"/>
              </a:spcAft>
            </a:pPr>
            <a:r>
              <a:rPr sz="17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Students see “your program crashes on an empty list” instead of “72/100”.</a:t>
            </a:r>
          </a:p>
          <a:p>
            <a:pPr algn="l" marL="329184" indent="-219456">
              <a:lnSpc>
                <a:spcPct val="118000"/>
              </a:lnSpc>
              <a:buFont typeface="Arial" pitchFamily="34" charset="0"/>
              <a:buChar char="•"/>
              <a:spcAft>
                <a:spcPts val="1300"/>
              </a:spcAft>
            </a:pPr>
            <a:r>
              <a:rPr sz="17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Teachers get their marking hours back, and hear what the class missed in time to teach it again.</a:t>
            </a:r>
          </a:p>
          <a:p>
            <a:pPr algn="l" marL="329184" indent="-219456">
              <a:lnSpc>
                <a:spcPct val="118000"/>
              </a:lnSpc>
              <a:buFont typeface="Arial" pitchFamily="34" charset="0"/>
              <a:buChar char="•"/>
              <a:spcAft>
                <a:spcPts val="1300"/>
              </a:spcAft>
            </a:pPr>
            <a:r>
              <a:rPr sz="17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Departments get NBA and NAAC outcome reports that are always up to date.</a:t>
            </a:r>
          </a:p>
          <a:p>
            <a:pPr algn="l" marL="219456" indent="-219456">
              <a:lnSpc>
                <a:spcPct val="100000"/>
              </a:lnSpc>
              <a:buFont typeface="Wingdings" pitchFamily="34" charset="0"/>
              <a:buChar char="v"/>
              <a:spcBef>
                <a:spcPts val="3400"/>
              </a:spcBef>
              <a:spcAft>
                <a:spcPts val="600"/>
              </a:spcAft>
            </a:pPr>
            <a:r>
              <a:rPr sz="20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Benefits of the solution (social, economic, environmental, etc.)</a:t>
            </a:r>
          </a:p>
          <a:p>
            <a:pPr algn="l" marL="329184" indent="-219456">
              <a:lnSpc>
                <a:spcPct val="118000"/>
              </a:lnSpc>
              <a:buFont typeface="Arial" pitchFamily="34" charset="0"/>
              <a:buChar char="•"/>
              <a:spcAft>
                <a:spcPts val="1300"/>
              </a:spcAft>
            </a:pPr>
            <a:r>
              <a:rPr sz="17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Fairer - one standard for everyone, every mark has a reason, every mark can be questioned.</a:t>
            </a:r>
          </a:p>
          <a:p>
            <a:pPr algn="l" marL="329184" indent="-219456">
              <a:lnSpc>
                <a:spcPct val="118000"/>
              </a:lnSpc>
              <a:buFont typeface="Arial" pitchFamily="34" charset="0"/>
              <a:buChar char="•"/>
              <a:spcAft>
                <a:spcPts val="1300"/>
              </a:spcAft>
            </a:pPr>
            <a:r>
              <a:rPr sz="17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Cheaper - an evening of marking becomes reviewing the few cases the system flagged.</a:t>
            </a:r>
          </a:p>
          <a:p>
            <a:pPr algn="l" marL="329184" indent="-219456">
              <a:lnSpc>
                <a:spcPct val="118000"/>
              </a:lnSpc>
              <a:buFont typeface="Arial" pitchFamily="34" charset="0"/>
              <a:buChar char="•"/>
              <a:spcAft>
                <a:spcPts val="1300"/>
              </a:spcAft>
            </a:pPr>
            <a:r>
              <a:rPr sz="17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Earlier - struggling students are found while something can still be done about it.</a:t>
            </a:r>
          </a:p>
          <a:p>
            <a:pPr algn="l" marL="329184" indent="-219456">
              <a:lnSpc>
                <a:spcPct val="118000"/>
              </a:lnSpc>
              <a:buFont typeface="Arial" pitchFamily="34" charset="0"/>
              <a:buChar char="•"/>
              <a:spcAft>
                <a:spcPts val="1300"/>
              </a:spcAft>
            </a:pPr>
            <a:r>
              <a:rPr sz="175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Lasting - what a class got wrong this year improves how it is taught next year.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184" y="1188720"/>
            <a:ext cx="11503152" cy="420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 tIns="22860" bIns="22860"/>
          <a:lstStyle/>
          <a:p>
            <a:pPr algn="l" marL="219456" indent="-219456">
              <a:lnSpc>
                <a:spcPct val="100000"/>
              </a:lnSpc>
              <a:buFont typeface="Wingdings" pitchFamily="34" charset="0"/>
              <a:buChar char="v"/>
              <a:spcAft>
                <a:spcPts val="1000"/>
              </a:spcAft>
            </a:pPr>
            <a:r>
              <a:rPr sz="1600" b="1" i="0" u="sng">
                <a:solidFill>
                  <a:srgbClr val="1F497D"/>
                </a:solidFill>
                <a:latin typeface="Arial"/>
                <a:cs typeface="Arial" pitchFamily="34" charset="0"/>
              </a:rPr>
              <a:t>Details / Links of the reference and research work</a:t>
            </a:r>
          </a:p>
          <a:p>
            <a:pPr algn="l" marL="219456" indent="-219456">
              <a:lnSpc>
                <a:spcPct val="106000"/>
              </a:lnSpc>
              <a:buFont typeface="Arial" pitchFamily="34" charset="0"/>
              <a:buChar char="•"/>
              <a:spcBef>
                <a:spcPts val="1300"/>
              </a:spcBef>
              <a:spcAft>
                <a:spcPts val="500"/>
              </a:spcAft>
            </a:pPr>
            <a:r>
              <a:rPr sz="1500" b="1" i="0" u="none">
                <a:solidFill>
                  <a:srgbClr val="0070C0"/>
                </a:solidFill>
                <a:latin typeface="Arial"/>
                <a:cs typeface="Arial" pitchFamily="34" charset="0"/>
              </a:rPr>
              <a:t>Checking for copied code</a:t>
            </a:r>
          </a:p>
          <a:p>
            <a:pPr algn="l" marL="493776" indent="-219456">
              <a:lnSpc>
                <a:spcPct val="108000"/>
              </a:lnSpc>
              <a:buFont typeface="Arial" pitchFamily="34" charset="0"/>
              <a:buChar char="–"/>
              <a:spcAft>
                <a:spcPts val="500"/>
              </a:spcAft>
            </a:pPr>
            <a:r>
              <a:rPr sz="13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Schleimer, Wilkerson &amp; Aiken, “Winnowing: Local Algorithms for Document Fingerprinting”, ACM SIGMOD 2003 - the method behind MOSS.</a:t>
            </a:r>
          </a:p>
          <a:p>
            <a:pPr algn="l" marL="219456" indent="-219456">
              <a:lnSpc>
                <a:spcPct val="106000"/>
              </a:lnSpc>
              <a:buFont typeface="Arial" pitchFamily="34" charset="0"/>
              <a:buChar char="•"/>
              <a:spcBef>
                <a:spcPts val="1300"/>
              </a:spcBef>
              <a:spcAft>
                <a:spcPts val="500"/>
              </a:spcAft>
            </a:pPr>
            <a:r>
              <a:rPr sz="1500" b="1" i="0" u="none">
                <a:solidFill>
                  <a:srgbClr val="0070C0"/>
                </a:solidFill>
                <a:latin typeface="Arial"/>
                <a:cs typeface="Arial" pitchFamily="34" charset="0"/>
              </a:rPr>
              <a:t>Tracking what a student knows</a:t>
            </a:r>
          </a:p>
          <a:p>
            <a:pPr algn="l" marL="493776" indent="-219456">
              <a:lnSpc>
                <a:spcPct val="108000"/>
              </a:lnSpc>
              <a:buFont typeface="Arial" pitchFamily="34" charset="0"/>
              <a:buChar char="–"/>
              <a:spcAft>
                <a:spcPts val="500"/>
              </a:spcAft>
            </a:pPr>
            <a:r>
              <a:rPr sz="13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Corbett &amp; Anderson, “Knowledge Tracing”, User Modeling and User-Adapted Interaction, 1994.</a:t>
            </a:r>
          </a:p>
          <a:p>
            <a:pPr algn="l" marL="493776" indent="-219456">
              <a:lnSpc>
                <a:spcPct val="108000"/>
              </a:lnSpc>
              <a:buFont typeface="Arial" pitchFamily="34" charset="0"/>
              <a:buChar char="–"/>
              <a:spcAft>
                <a:spcPts val="500"/>
              </a:spcAft>
            </a:pPr>
            <a:r>
              <a:rPr sz="13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Ebel &amp; Frisbie, Essentials of Educational Measurement - telling a good exam question from a bad one.</a:t>
            </a:r>
          </a:p>
          <a:p>
            <a:pPr algn="l" marL="219456" indent="-219456">
              <a:lnSpc>
                <a:spcPct val="106000"/>
              </a:lnSpc>
              <a:buFont typeface="Arial" pitchFamily="34" charset="0"/>
              <a:buChar char="•"/>
              <a:spcBef>
                <a:spcPts val="1300"/>
              </a:spcBef>
              <a:spcAft>
                <a:spcPts val="500"/>
              </a:spcAft>
            </a:pPr>
            <a:r>
              <a:rPr sz="1500" b="1" i="0" u="none">
                <a:solidFill>
                  <a:srgbClr val="0070C0"/>
                </a:solidFill>
                <a:latin typeface="Arial"/>
                <a:cs typeface="Arial" pitchFamily="34" charset="0"/>
              </a:rPr>
              <a:t>Marking programs automatically</a:t>
            </a:r>
          </a:p>
          <a:p>
            <a:pPr algn="l" marL="493776" indent="-219456">
              <a:lnSpc>
                <a:spcPct val="108000"/>
              </a:lnSpc>
              <a:buFont typeface="Arial" pitchFamily="34" charset="0"/>
              <a:buChar char="–"/>
              <a:spcAft>
                <a:spcPts val="500"/>
              </a:spcAft>
            </a:pPr>
            <a:r>
              <a:rPr sz="13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Gulwani, Radicek &amp; Zuleger, “Automated Clustering and Program Repair for Introductory Programming Assignments”, PLDI 2018.</a:t>
            </a:r>
          </a:p>
          <a:p>
            <a:pPr algn="l" marL="493776" indent="-219456">
              <a:lnSpc>
                <a:spcPct val="108000"/>
              </a:lnSpc>
              <a:buFont typeface="Arial" pitchFamily="34" charset="0"/>
              <a:buChar char="–"/>
              <a:spcAft>
                <a:spcPts val="500"/>
              </a:spcAft>
            </a:pPr>
            <a:r>
              <a:rPr sz="13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tree-sitter - the parser used to read student code even when it does not compile.</a:t>
            </a:r>
          </a:p>
          <a:p>
            <a:pPr algn="l" marL="219456" indent="-219456">
              <a:lnSpc>
                <a:spcPct val="106000"/>
              </a:lnSpc>
              <a:buFont typeface="Arial" pitchFamily="34" charset="0"/>
              <a:buChar char="•"/>
              <a:spcBef>
                <a:spcPts val="1300"/>
              </a:spcBef>
              <a:spcAft>
                <a:spcPts val="500"/>
              </a:spcAft>
            </a:pPr>
            <a:r>
              <a:rPr sz="1500" b="1" i="0" u="none">
                <a:solidFill>
                  <a:srgbClr val="0070C0"/>
                </a:solidFill>
                <a:latin typeface="Arial"/>
                <a:cs typeface="Arial" pitchFamily="34" charset="0"/>
              </a:rPr>
              <a:t>Running untrusted code, and the standards we build to</a:t>
            </a:r>
          </a:p>
          <a:p>
            <a:pPr algn="l" marL="493776" indent="-219456">
              <a:lnSpc>
                <a:spcPct val="108000"/>
              </a:lnSpc>
              <a:buFont typeface="Arial" pitchFamily="34" charset="0"/>
              <a:buChar char="–"/>
              <a:spcAft>
                <a:spcPts val="500"/>
              </a:spcAft>
            </a:pPr>
            <a:r>
              <a:rPr sz="13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Agache et al., “Firecracker: Lightweight Virtualization”, USENIX NSDI 2020.</a:t>
            </a:r>
          </a:p>
          <a:p>
            <a:pPr algn="l" marL="493776" indent="-219456">
              <a:lnSpc>
                <a:spcPct val="108000"/>
              </a:lnSpc>
              <a:buFont typeface="Arial" pitchFamily="34" charset="0"/>
              <a:buChar char="–"/>
              <a:spcAft>
                <a:spcPts val="500"/>
              </a:spcAft>
            </a:pPr>
            <a:r>
              <a:rPr sz="1300" b="0" i="0" u="none">
                <a:solidFill>
                  <a:srgbClr val="1A1A1A"/>
                </a:solidFill>
                <a:latin typeface="Arial"/>
                <a:cs typeface="Arial" pitchFamily="34" charset="0"/>
              </a:rPr>
              <a:t>1EdTech LTI 1.3 for Moodle and Google Classroom; NBA (India) for the CO-PO reports.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10896" y="5559552"/>
            <a:ext cx="11576304" cy="566928"/>
          </a:xfrm>
          <a:prstGeom prst="rect">
            <a:avLst/>
          </a:prstGeom>
          <a:solidFill>
            <a:srgbClr val="ECF2F9"/>
          </a:solidFill>
          <a:ln w="9525">
            <a:solidFill>
              <a:srgbClr val="4F81BD"/>
            </a:solidFill>
          </a:ln>
        </p:spPr>
        <p:txBody>
          <a:bodyPr wrap="square" lIns="45720" rIns="45720" tIns="22860" bIns="2286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sz="1300" b="1" i="0" u="none">
                <a:solidFill>
                  <a:srgbClr val="1F497D"/>
                </a:solidFill>
                <a:latin typeface="Arial"/>
                <a:cs typeface="Arial" pitchFamily="34" charset="0"/>
              </a:rPr>
              <a:t>Working prototype and source code: github.com/Varshith-06/evalpro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