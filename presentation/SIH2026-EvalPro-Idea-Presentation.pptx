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920240"/>
            <a:ext cx="5669280" cy="4617720"/>
          </a:xfrm>
          <a:prstGeom prst="rect">
            <a:avLst/>
          </a:prstGeom>
          <a:noFill/>
        </p:spPr>
        <p:txBody>
          <a:bodyPr wrap="square" rtlCol="0" lIns="45720" rIns="45720" tIns="22860" bIns="22860"/>
          <a:lstStyle/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[Problem Statement ID from the SIH portal]</a:t>
            </a:r>
            <a:endParaRPr lang="en-US" dirty="0"/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Title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Automated Programming Lab Evaluation Platform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Theme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Smart Education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PS Category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Software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ID from the SIH portal]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Name (Registered on portal)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Name as registered on the portal]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19072" y="201168"/>
            <a:ext cx="7973568" cy="731520"/>
          </a:xfrm>
        </p:spPr>
        <p:txBody>
          <a:bodyPr/>
          <a:lstStyle/>
          <a:p>
            <a:pPr eaLnBrk="1" hangingPunct="1" algn="l" marL="0" indent="0">
              <a:lnSpc>
                <a:spcPct val="100000"/>
              </a:lnSpc>
              <a:buNone/>
            </a:pPr>
            <a:r>
              <a:rPr sz="2400" b="1" i="0" u="none">
                <a:solidFill>
                  <a:srgbClr val="1F497D"/>
                </a:solidFill>
                <a:latin typeface="Times New Roman"/>
                <a:cs typeface="Times New Roman" pitchFamily="34" charset="0"/>
              </a:rPr>
              <a:t>EvalPro - Programming Labs That Mark Themselves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992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11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Detailed explanation of the proposed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teacher writes the question in plain English. No answer key and no test cases needed.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platform reads how the student solved it and marks the approach, with a reason for every mark.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right method with one wrong line still scores. Code that will not even run is still read.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mark is tied to a topic, so a term of marks becomes a picture of what a student understands.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How it addresses the problem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Plugs into the college's existing system for labs, submissions and class lists.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Groups the class's mistakes, so a teacher sees the few things most people got wrong.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Flags students slipping behind while there is still time to help them.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student who thinks a mark is wrong can challenge it, and a teacher answers.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Innovation and uniqueness of the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Other auto-graders ask “did the output match?”. This one asks “was the idea right?”.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So a teacher can set an open question and still get it marked - no test cases to write.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touches the student's program, so it cannot be copied.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marks the question paper too - unclear questions are flagged to the teacher.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spots copied work by showing the matching lines - the teacher decides, not the machine.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checks its own fairness: if it marks one group differently, it says so before results go out.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2487168"/>
            <a:ext cx="11503152" cy="1170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500"/>
              </a:spcAft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Technologies to be used (e.g. programming languages, frameworks, hardware)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Python and FastAPI, with a plain web interface that runs in any browser.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programs run inside a sealed sandbox, away from college systems.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 - no GPU, and no AI cost per submission marked.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57200" y="3547872"/>
            <a:ext cx="2194560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  <a:spcAft>
                <a:spcPts val="300"/>
              </a:spcAft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Model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Confidence estimator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Knowledge tracing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Misconception clustering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Copy detector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Algorithm identifier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Report checker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Early warning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Language detector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2651760" y="3547872"/>
            <a:ext cx="3291840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  <a:spcAft>
                <a:spcPts val="300"/>
              </a:spcAft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What it decides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which marks are safe to release without a teacher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what each student knows, topic by topic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few mistakes the whole class is making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copies that renaming and reordering hide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which method the student actually used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whether the write-up matches the code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who is slipping behind, and why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what it is written in and how to run it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035040" y="3547872"/>
            <a:ext cx="4846320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  <a:spcAft>
                <a:spcPts val="300"/>
              </a:spcAft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How it is trained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mark a teacher corrects, forever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stream of marks itself - no labelling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unsupervised - works from day one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self-supervised: copies made by renaming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reference solutions and teacher tags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AI drafts labels, teachers correct, then distil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past outcomes, bias-audited before release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auto-labelled from any code corpus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5155387"/>
            <a:ext cx="11064240" cy="21945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Bold: learns from data already. The rest run on hand-written rules until a semester of use supplies labels - same interface either way, so swapping a model in changes one file. The AI drafts and labels; it never marks a submission.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29184" y="5541264"/>
            <a:ext cx="11503152" cy="786384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Aft>
                <a:spcPts val="500"/>
              </a:spcAft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Methodology and process for implementation (Flow Charts/Images/ working prototype)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 approves the topic map and the rubric; both are drafted for them, neither is imposed.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Working prototype: a class of 24 students across four labs, marked end to end.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1042415"/>
            <a:ext cx="2615184" cy="96926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1.  COLLECT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lab questions, submissions
and class lists, from the
college's existing system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2944368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Rounded Rectangle 17417"/>
          <p:cNvSpPr/>
          <p:nvPr/>
        </p:nvSpPr>
        <p:spPr>
          <a:xfrm>
            <a:off x="3236976" y="1042415"/>
            <a:ext cx="2615184" cy="969264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2.  MARK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read how it was solved,
run it safely, judge the approach,
explain every mark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5852160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6144768" y="1042415"/>
            <a:ext cx="2615184" cy="96926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3.  UNDERSTAND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build a picture of which
topics each student
has actually got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8759952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9052560" y="1042415"/>
            <a:ext cx="2615184" cy="969264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4.  ACT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tell students what to revise,
tell teachers what to reteach,
report on the course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29184" y="2066543"/>
            <a:ext cx="11475720" cy="40233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ctr" marL="0" indent="0">
              <a:lnSpc>
                <a:spcPct val="104000"/>
              </a:lnSpc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Every mark is tied to a topic, and topics are linked into a prerequisite map - drafted from the syllabus, approved by the teacher. The system walks it to find the root gap, not the symptom.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52144"/>
            <a:ext cx="6126480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100"/>
              </a:spcBef>
              <a:spcAft>
                <a:spcPts val="600"/>
              </a:spcAft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Analysis of the feasibility of the idea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already works. Nothing here waits on a research breakthrough.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Runs on a normal laptop or a small college server.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Fits the tools a college already uses, so marks go back to the gradebook.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100"/>
              </a:spcBef>
              <a:spcAft>
                <a:spcPts val="600"/>
              </a:spcAft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challenges and risks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Running students' programs safely on our own machine.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wrong automatic mark loses a class's trust very quickly.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Wrongly accusing a student of copying.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data is protected by law, here and abroad.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Everyone submits in the last hour before the deadline.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abandoning anything that costs more time than it saves.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100"/>
              </a:spcBef>
              <a:spcAft>
                <a:spcPts val="600"/>
              </a:spcAft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Strategies for overcoming these challenges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program runs sealed off from everything else, then is destroyed.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Unsure work goes to the teacher, and any student can question any mark.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copying we show the matching lines only. The teacher decides.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Role-scoped access, and a student can see what is inferred about them.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queue that adds workers on demand, with a ceiling per lab.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1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Ten-minute setup, and every correction a teacher makes trains the system.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693408" y="1152144"/>
            <a:ext cx="5138928" cy="3010204"/>
          </a:xfrm>
          <a:prstGeom prst="roundRect">
            <a:avLst>
              <a:gd name="adj" fmla="val 3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876288" y="1271016"/>
            <a:ext cx="4773168" cy="2772460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  <a:spcAft>
                <a:spcPts val="600"/>
              </a:spcAft>
            </a:pPr>
            <a:r>
              <a:rPr sz="12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Running untrusted code safely - the shipped design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Its own tiny virtual machine</a:t>
            </a:r>
          </a:p>
          <a:p>
            <a:pPr algn="l" marL="219456" indent="0">
              <a:lnSpc>
                <a:spcPct val="102000"/>
              </a:lnSpc>
              <a:buNone/>
              <a:spcAft>
                <a:spcPts val="40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submission gets a Firecracker microVM, not just a container, so an escape still lands nowhere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An allow-list of system calls</a:t>
            </a:r>
          </a:p>
          <a:p>
            <a:pPr algn="l" marL="219456" indent="0">
              <a:lnSpc>
                <a:spcPct val="102000"/>
              </a:lnSpc>
              <a:buNone/>
              <a:spcAft>
                <a:spcPts val="40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seccomp-bpf: anything not on the list is denied, and repeated denials from one student raise a flag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No network at all</a:t>
            </a:r>
          </a:p>
          <a:p>
            <a:pPr algn="l" marL="219456" indent="0">
              <a:lnSpc>
                <a:spcPct val="102000"/>
              </a:lnSpc>
              <a:buNone/>
              <a:spcAft>
                <a:spcPts val="40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no interfaces, no loopback, and the package manager is not reachable - nothing can phone home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Hard ceilings</a:t>
            </a:r>
          </a:p>
          <a:p>
            <a:pPr algn="l" marL="219456" indent="0">
              <a:lnSpc>
                <a:spcPct val="102000"/>
              </a:lnSpc>
              <a:buNone/>
              <a:spcAft>
                <a:spcPts val="40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memory, processes and CPU are capped, so a fork bomb or a runaway loop dies instead of the server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Destroyed after every run</a:t>
            </a:r>
          </a:p>
          <a:p>
            <a:pPr algn="l" marL="219456" indent="0">
              <a:lnSpc>
                <a:spcPct val="102000"/>
              </a:lnSpc>
              <a:buNone/>
              <a:spcAft>
                <a:spcPts val="40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one-shot machines, so nothing a student leaves behind can reach the next student</a:t>
            </a:r>
          </a:p>
          <a:p>
            <a:pPr algn="l" marL="310896" indent="-219456">
              <a:lnSpc>
                <a:spcPct val="100000"/>
              </a:lnSpc>
              <a:buFont typeface="Arial" pitchFamily="34" charset="0"/>
              <a:buChar char="•"/>
            </a:pPr>
            <a:r>
              <a:rPr sz="11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Nothing worth stealing inside</a:t>
            </a:r>
          </a:p>
          <a:p>
            <a:pPr algn="l" marL="219456" indent="0">
              <a:lnSpc>
                <a:spcPct val="102000"/>
              </a:lnSpc>
              <a:buNone/>
              <a:spcAft>
                <a:spcPts val="40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enters, and workers hold no keys and no database - a full breach wins one job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1089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Already built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class of 24 students and four labs, marked end to end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~10 minutes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a teacher to set up one lab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7473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No extra cost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hardware, and no AI cost per submission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389888"/>
            <a:ext cx="11503152" cy="4791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700"/>
              </a:spcBef>
              <a:spcAft>
                <a:spcPts val="6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impact on the target audience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500"/>
              </a:spcAft>
            </a:pPr>
            <a:r>
              <a:rPr sz="14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see “your program crashes on an empty list” instead of “72/100”.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500"/>
              </a:spcAft>
            </a:pPr>
            <a:r>
              <a:rPr sz="14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get their marking hours back, and hear what the class missed in time to teach it again.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500"/>
              </a:spcAft>
            </a:pPr>
            <a:r>
              <a:rPr sz="14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Departments get NBA and NAAC outcome reports that are always up to date.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700"/>
              </a:spcBef>
              <a:spcAft>
                <a:spcPts val="600"/>
              </a:spcAft>
            </a:pPr>
            <a:r>
              <a:rPr sz="17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Benefits of the solution (social, economic, environmental, etc.)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500"/>
              </a:spcAft>
            </a:pPr>
            <a:r>
              <a:rPr sz="14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Fairer - one standard for everyone, every mark has a reason, every mark can be questioned.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500"/>
              </a:spcAft>
            </a:pPr>
            <a:r>
              <a:rPr sz="14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Cheaper - an evening of marking becomes reviewing the few cases the system flagged.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500"/>
              </a:spcAft>
            </a:pPr>
            <a:r>
              <a:rPr sz="14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Earlier - struggling students are found while something can still be done about it.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500"/>
              </a:spcAft>
            </a:pPr>
            <a:r>
              <a:rPr sz="14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Lasting - what a class got wrong this year improves how it is taught next year.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29184" y="3968496"/>
            <a:ext cx="3712463" cy="1920240"/>
          </a:xfrm>
          <a:prstGeom prst="roundRect">
            <a:avLst>
              <a:gd name="adj" fmla="val 5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75488" y="4078224"/>
            <a:ext cx="3419856" cy="1700784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2000"/>
              </a:lnSpc>
              <a:buNone/>
              <a:spcAft>
                <a:spcPts val="50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Works with what a college already has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Plugs into Moodle, Canvas, Blackboard or Google Classroom (LTI 1.3).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Class lists come in, marks go back out - nobody keeps two gradebooks.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One parser reads 40+ languages, so it is not a Python-only tool.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Reports out as PDF, Excel or CSV for accreditation files.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24528" y="3968496"/>
            <a:ext cx="3712463" cy="1920240"/>
          </a:xfrm>
          <a:prstGeom prst="roundRect">
            <a:avLst>
              <a:gd name="adj" fmla="val 5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370832" y="4078224"/>
            <a:ext cx="3419856" cy="1700784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2000"/>
              </a:lnSpc>
              <a:buNone/>
              <a:spcAft>
                <a:spcPts val="50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Claims we are willing to be measured on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Agrees with teachers on held-back marking, or it does not ship.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Under 3% of released marks later overturned.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submission marked in under three minutes at the deadline rush.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at risk flagged three weeks before it is too late.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19871" y="3968496"/>
            <a:ext cx="3712463" cy="1920240"/>
          </a:xfrm>
          <a:prstGeom prst="roundRect">
            <a:avLst>
              <a:gd name="adj" fmla="val 5500"/>
            </a:avLst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266175" y="4078224"/>
            <a:ext cx="3419856" cy="1700784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2000"/>
              </a:lnSpc>
              <a:buNone/>
              <a:spcAft>
                <a:spcPts val="500"/>
              </a:spcAft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The road from here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Today: a working prototype, marking a class of 24 end to end.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Semester 1: the models start learning; about 40% marked without a human.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Semester 2: about 70%, and the full picture of the course.</a:t>
            </a:r>
          </a:p>
          <a:p>
            <a:pPr algn="l" marL="310896" indent="-219456">
              <a:lnSpc>
                <a:spcPct val="104000"/>
              </a:lnSpc>
              <a:buFont typeface="Arial" pitchFamily="34" charset="0"/>
              <a:buChar char="•"/>
              <a:spcAft>
                <a:spcPts val="300"/>
              </a:spcAft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Semester 3: about 85%, steady, and the AI drafting replaced by our own model.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Aft>
                <a:spcPts val="10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Details / Links of the reference and research work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Checking for copied code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Schleimer, Wilkerson &amp; Aiken, “Winnowing: Local Algorithms for Document Fingerprinting”, ACM SIGMOD 2003 - the method behind MOSS.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Tracking what a student knows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Corbett &amp; Anderson, “Knowledge Tracing”, User Modeling and User-Adapted Interaction, 1994.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Ebel &amp; Frisbie, Essentials of Educational Measurement - telling a good exam question from a bad one.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Marking programs automatically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Gulwani, Radicek &amp; Zuleger, “Automated Clustering and Program Repair for Introductory Programming Assignments”, PLDI 2018.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tree-sitter - the parser used to read student code even when it does not compile.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Running untrusted code, and the standards we build to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Agache et al., “Firecracker: Lightweight Virtualization”, USENIX NSDI 2020.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1EdTech LTI 1.3 for Moodle and Google Classroom; NBA (India) for the CO-PO reports.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10896" y="5559552"/>
            <a:ext cx="11576304" cy="566928"/>
          </a:xfrm>
          <a:prstGeom prst="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</p:spPr>
        <p:txBody>
          <a:bodyPr wrap="square" lIns="45720" rIns="45720" tIns="22860" bIns="2286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Working prototype and source code: github.com/Varshith-06/evalpro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