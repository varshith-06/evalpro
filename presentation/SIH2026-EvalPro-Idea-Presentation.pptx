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1883664"/>
            <a:ext cx="65836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16</a:t>
            </a:r>
            <a:endParaRPr lang="en-US" dirty="0"/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l" marL="219456" indent="-219456">
              <a:lnSpc>
                <a:spcPct val="112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3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– </a:t>
            </a:r>
            <a:r>
              <a:rPr sz="13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Nullcheck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365760" y="219456"/>
            <a:ext cx="9509760" cy="713232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4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992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spcAft>
                <a:spcPts val="400"/>
              </a:spcAft>
              <a:buFont typeface="Wingdings" pitchFamily="34" charset="0"/>
              <a:buChar char="v"/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question in plain English. No answer key and no test cases needed.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platform reads how the student solved it and marks the approach, with a reason for every mark.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right method with one wrong line still scores. Code that will not even run is still read.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is tied to a topic, so a term of marks becomes a picture of what a student understands.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the college's existing system for labs, submissions and class lists.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Groups the class's mistakes, so a teacher sees the few things most people got wrong.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Flags students slipping behind while there is still time to help them.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who thinks a mark is wrong can challenge it, and a teacher answers.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Other auto-graders ask “did the output match?”. This one asks “was the idea right?”.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So a teacher can set an open question and still get it marked - no test cases to write.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touches the student's program, so it cannot be copied.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question paper too - unclear questions are flagged to the teacher.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spots copied work by showing the matching lines - the teacher decides, not the machine.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checks its own fairness: if it marks one group differently, it says so before results go out.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2487168"/>
            <a:ext cx="11503152" cy="1170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spcAft>
                <a:spcPts val="500"/>
              </a:spcAft>
              <a:buFont typeface="Wingdings" pitchFamily="34" charset="0"/>
              <a:buChar char="v"/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FastAPI, with a plain web interface that runs in any browser.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sealed sandbox, away from college systems.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 - no GPU, and no AI cost per submission marked.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65760" y="3547872"/>
            <a:ext cx="1572768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Model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Confidence estimator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Knowledge tracing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Misconception clustering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Copy detector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Algorithm identifier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Report checker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Early warning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Language detector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1938528" y="3547872"/>
            <a:ext cx="1956816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Algorithm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Gradient boosting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Bayesian knowledge tracing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HDBSCAN clustering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Winnowing + embeddings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Graph neural net on the CFG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DeBERTa-v3 encoder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Gradient boosting, calibrated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Gradient boosting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895344" y="3547872"/>
            <a:ext cx="2048256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What it decides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which marks need no teacher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what each student knows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class's common mistakes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copies that renaming hides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which method the student used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does the write-up match the code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who is slipping behind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the language, and how to run it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943600" y="3547872"/>
            <a:ext cx="2048256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How it is trained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a teacher corrects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marks themselves, unlabelled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unsupervised, from day one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copies made by renaming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reference solutions + tags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AI drafts, teachers correct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past outcomes, bias-audited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any labelled code corpus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7991856" y="3547872"/>
            <a:ext cx="2194560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How good it is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5.5% of marks later changed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0.75 predicting the next lab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judged by what teachers use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0 false flags in 91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vs teacher tags, once trained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vs a teacher's read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on weeks of warning given</a:t>
            </a:r>
          </a:p>
          <a:p>
            <a:pPr algn="l" marL="0" indent="0">
              <a:lnSpc>
                <a:spcPct val="100000"/>
              </a:lnSpc>
              <a:spcAft>
                <a:spcPts val="150"/>
              </a:spcAft>
              <a:buNone/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on a labelled holdout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65760" y="5155387"/>
            <a:ext cx="11064240" cy="21945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Bold: learns from data already, measured on the seeded course. The rest run on hand-written rules behind the same interface until a semester of use supplies labels, and state how each will be judged. The AI drafts and labels; it never marks a submission.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29184" y="5541264"/>
            <a:ext cx="11503152" cy="78638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spcAft>
                <a:spcPts val="500"/>
              </a:spcAft>
              <a:buFont typeface="Wingdings" pitchFamily="34" charset="0"/>
              <a:buChar char="v"/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 approves the topic map and the rubric; both are drafted for them, neither is imposed.</a:t>
            </a:r>
          </a:p>
          <a:p>
            <a:pPr algn="l" marL="329184" indent="-219456">
              <a:lnSpc>
                <a:spcPct val="104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prototype: a class of 24 students across four labs, marked end to end.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9184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2944368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3236976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read how it was solved,
run it safely, judge the approach,
explain every mark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5852160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6144768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8759952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9052560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29184" y="2066543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104000"/>
              </a:lnSpc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topic; topics link into a prerequisite map the system walks to find the root gap, not the symptom.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097280"/>
            <a:ext cx="6126480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 anchor="t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35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 normal laptop or a small college server.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Fits the tools a college already uses, so marks go back to the gradebook.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35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Running students' programs safely on our own machine.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wrong automatic mark loses a class's trust very quickly.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data is protected by law, here and abroad.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Everyone submits in the last hour before the deadline.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abandoning anything that costs more time than it saves.</a:t>
            </a:r>
          </a:p>
          <a:p>
            <a:pPr algn="l" marL="219456" indent="-219456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35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then is destroyed.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Unsure work goes to the teacher, and any student can question any mark.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 we show the matching lines only. The teacher decides.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Role-scoped access, and a student can see what is inferred about them.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Marking runs on a queue with a ceiling per lab, so a rush queues instead of failing.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</a:pPr>
            <a:r>
              <a:rPr sz="11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Ten-minute setup, and every correction a teacher makes trains the system.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693408" y="1152144"/>
            <a:ext cx="5138928" cy="2441448"/>
          </a:xfrm>
          <a:prstGeom prst="roundRect">
            <a:avLst>
              <a:gd name="adj" fmla="val 3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876288" y="1271016"/>
            <a:ext cx="4773168" cy="220370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spcAft>
                <a:spcPts val="700"/>
              </a:spcAft>
              <a:buNone/>
            </a:pPr>
            <a:r>
              <a:rPr sz="12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Running untrusted code safely - the shipped design</a:t>
            </a:r>
          </a:p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sz="105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Getting out of the machine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Its own Firecracker microVM, not just a container.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System calls are an allow-list: everything else is denied.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No network at all - not even the package manager.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Destroyed and rebuilt between every single run.</a:t>
            </a:r>
          </a:p>
          <a:p>
            <a:pPr algn="l" marL="0" indent="0">
              <a:lnSpc>
                <a:spcPct val="100000"/>
              </a:lnSpc>
              <a:spcBef>
                <a:spcPts val="700"/>
              </a:spcBef>
              <a:spcAft>
                <a:spcPts val="300"/>
              </a:spcAft>
              <a:buNone/>
            </a:pPr>
            <a:r>
              <a:rPr sz="105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Getting a better mark - the common one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is never inside. There is no field to put it in.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Test inputs are built from the submission's own id: unguessable.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marking harness owns the result channel. Printing PASS does nothing.</a:t>
            </a:r>
          </a:p>
          <a:p>
            <a:pPr algn="l" marL="329184" indent="-219456">
              <a:lnSpc>
                <a:spcPct val="1020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Stalling to force a timeout scores as a failure, never partial.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10896" y="5504688"/>
            <a:ext cx="272948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class of 24 students and four labs, marked end to end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59836" y="5504688"/>
            <a:ext cx="272948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60 at once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whole class submitting together: all accepted in 0.1s, none lost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208776" y="5504688"/>
            <a:ext cx="272948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157716" y="5504688"/>
            <a:ext cx="272948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hardware, and no AI cost per submission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316736"/>
            <a:ext cx="11503152" cy="25968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 anchor="t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see “your program crashes on an empty list” instead of “72/100”.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hear what the class missed in time to teach it again.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Departments get NBA and NAAC outcome reports that are always up to date.</a:t>
            </a:r>
          </a:p>
          <a:p>
            <a:pPr algn="l" marL="219456" indent="-219456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itchFamily="34" charset="0"/>
              <a:buChar char="v"/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- one standard for everyone, every mark has a reason, every mark can be questioned.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Cheaper - an evening of marking becomes reviewing the few cases the system flagged.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Earlier - struggling students are found while something can still be done about it.</a:t>
            </a:r>
          </a:p>
          <a:p>
            <a:pPr algn="l" marL="329184" indent="-219456">
              <a:lnSpc>
                <a:spcPct val="106000"/>
              </a:lnSpc>
              <a:spcAft>
                <a:spcPts val="100"/>
              </a:spcAft>
              <a:buFont typeface="Arial" pitchFamily="34" charset="0"/>
              <a:buChar char="•"/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Lasting - what a class got wrong this year improves how it is taught next year.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29184" y="4059936"/>
            <a:ext cx="3712463" cy="1847088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75488" y="4169664"/>
            <a:ext cx="3419856" cy="1627632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spcAft>
                <a:spcPts val="500"/>
              </a:spcAft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Works with what a college already has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Moodle, Canvas, Blackboard or Google Classroom (LTI 1.3).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Class lists come in, marks go back out - nobody keeps two gradebooks.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One parser reads 40+ languages, so it is not a Python-only tool.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Reports out as PDF, Excel or CSV for accreditation files.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24528" y="4059936"/>
            <a:ext cx="3712463" cy="1847088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70832" y="4169664"/>
            <a:ext cx="3419856" cy="1627632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spcAft>
                <a:spcPts val="500"/>
              </a:spcAft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Measured on the working prototype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Marking takes 0.6s at the 95th percentile, against a three-minute budget.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60% of marks released without a teacher; 5.5% later changed.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Predicts the next lab's performance at 0.75; no copying wrongly flagged.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Only 1.1% of marks were appealed.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19871" y="4059936"/>
            <a:ext cx="3712463" cy="1847088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266175" y="4169664"/>
            <a:ext cx="3419856" cy="1627632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spcAft>
                <a:spcPts val="500"/>
              </a:spcAft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The road from here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Today: a working prototype, marking a class of 24 end to end.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1: the models start learning; about 40% marked without a human.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2: about 70%, and the full picture of the course.</a:t>
            </a:r>
          </a:p>
          <a:p>
            <a:pPr algn="l" marL="310896" indent="-219456">
              <a:lnSpc>
                <a:spcPct val="1040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3: about 85%, steady, and the AI drafting replaced by our own model.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spcAft>
                <a:spcPts val="1000"/>
              </a:spcAft>
              <a:buFont typeface="Wingdings" pitchFamily="34" charset="0"/>
              <a:buChar char="v"/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“Winnowing: Local Algorithms for Document Fingerprinting”, ACM SIGMOD 2003 - the method behind MOSS.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“Knowledge Tracing”, User Modeling and User-Adapted Interaction, 1994.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telling a good exam question from a bad one.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“Automated Clustering and Program Repair for Introductory Programming Assignments”, PLDI 2018.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read student code even when it does not compile.</a:t>
            </a:r>
          </a:p>
          <a:p>
            <a:pPr algn="l" marL="219456" indent="-219456">
              <a:lnSpc>
                <a:spcPct val="106000"/>
              </a:lnSpc>
              <a:spcBef>
                <a:spcPts val="1300"/>
              </a:spcBef>
              <a:spcAft>
                <a:spcPts val="500"/>
              </a:spcAft>
              <a:buFont typeface="Arial" pitchFamily="34" charset="0"/>
              <a:buChar char="•"/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code, and the standards we build to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“Firecracker: Lightweight Virtualization”, USENIX NSDI 2020.</a:t>
            </a:r>
          </a:p>
          <a:p>
            <a:pPr algn="l" marL="493776" indent="-219456">
              <a:lnSpc>
                <a:spcPct val="108000"/>
              </a:lnSpc>
              <a:spcAft>
                <a:spcPts val="500"/>
              </a:spcAft>
              <a:buFont typeface="Arial" pitchFamily="34" charset="0"/>
              <a:buChar char="–"/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LTI 1.3 for Moodle and Google Classroom; NBA (India) for the CO-PO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