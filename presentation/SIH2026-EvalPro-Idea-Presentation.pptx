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920240"/>
            <a:ext cx="5669280" cy="4617720"/>
          </a:xfrm>
          <a:prstGeom prst="rect">
            <a:avLst/>
          </a:prstGeom>
          <a:noFill/>
        </p:spPr>
        <p:txBody>
          <a:bodyPr wrap="square" rtlCol="0" lIns="45720" rIns="45720" tIns="22860" bIns="22860"/>
          <a:lstStyle/>
          <a:p>
            <a:pPr algn="just" marL="219456" indent="-219456">
              <a:lnSpc>
                <a:spcPct val="114999"/>
              </a:lnSpc>
              <a:buFont typeface="Arial" pitchFamily="34" charset="0"/>
              <a:buChar char="•"/>
              <a:spcAft>
                <a:spcPts val="1200"/>
              </a:spcAft>
            </a:pPr>
            <a:r>
              <a:rPr sz="150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ID – </a:t>
            </a:r>
            <a:r>
              <a:rPr sz="150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[Problem Statement ID from the SIH portal]</a:t>
            </a:r>
            <a:endParaRPr lang="en-US" dirty="0"/>
          </a:p>
          <a:p>
            <a:pPr algn="just" marL="219456" indent="-219456">
              <a:lnSpc>
                <a:spcPct val="114999"/>
              </a:lnSpc>
              <a:buFont typeface="Arial" pitchFamily="34" charset="0"/>
              <a:buChar char="•"/>
              <a:spcAft>
                <a:spcPts val="1200"/>
              </a:spcAft>
            </a:pPr>
            <a:r>
              <a:rPr sz="150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Title – </a:t>
            </a:r>
            <a:r>
              <a:rPr sz="150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Automated Programming Lab Evaluation Platform</a:t>
            </a:r>
          </a:p>
          <a:p>
            <a:pPr algn="just" marL="219456" indent="-219456">
              <a:lnSpc>
                <a:spcPct val="114999"/>
              </a:lnSpc>
              <a:buFont typeface="Arial" pitchFamily="34" charset="0"/>
              <a:buChar char="•"/>
              <a:spcAft>
                <a:spcPts val="1200"/>
              </a:spcAft>
            </a:pPr>
            <a:r>
              <a:rPr sz="150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Theme – </a:t>
            </a:r>
            <a:r>
              <a:rPr sz="150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Smart Education</a:t>
            </a:r>
          </a:p>
          <a:p>
            <a:pPr algn="just" marL="219456" indent="-219456">
              <a:lnSpc>
                <a:spcPct val="114999"/>
              </a:lnSpc>
              <a:buFont typeface="Arial" pitchFamily="34" charset="0"/>
              <a:buChar char="•"/>
              <a:spcAft>
                <a:spcPts val="1200"/>
              </a:spcAft>
            </a:pPr>
            <a:r>
              <a:rPr sz="150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PS Category – </a:t>
            </a:r>
            <a:r>
              <a:rPr sz="150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Software</a:t>
            </a:r>
          </a:p>
          <a:p>
            <a:pPr algn="just" marL="219456" indent="-219456">
              <a:lnSpc>
                <a:spcPct val="114999"/>
              </a:lnSpc>
              <a:buFont typeface="Arial" pitchFamily="34" charset="0"/>
              <a:buChar char="•"/>
              <a:spcAft>
                <a:spcPts val="1200"/>
              </a:spcAft>
            </a:pPr>
            <a:r>
              <a:rPr sz="150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ID – </a:t>
            </a:r>
            <a:r>
              <a:rPr sz="150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ID from the SIH portal]</a:t>
            </a:r>
          </a:p>
          <a:p>
            <a:pPr algn="just" marL="219456" indent="-219456">
              <a:lnSpc>
                <a:spcPct val="114999"/>
              </a:lnSpc>
              <a:buFont typeface="Arial" pitchFamily="34" charset="0"/>
              <a:buChar char="•"/>
              <a:spcAft>
                <a:spcPts val="1200"/>
              </a:spcAft>
            </a:pPr>
            <a:r>
              <a:rPr sz="150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Name (Registered on portal) – </a:t>
            </a:r>
            <a:r>
              <a:rPr sz="150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Name as registered on the portal]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19072" y="91440"/>
            <a:ext cx="7818120" cy="914400"/>
          </a:xfrm>
        </p:spPr>
        <p:txBody>
          <a:bodyPr/>
          <a:lstStyle/>
          <a:p>
            <a:pPr eaLnBrk="1" hangingPunct="1" algn="l" marL="0" indent="0">
              <a:lnSpc>
                <a:spcPct val="100000"/>
              </a:lnSpc>
              <a:buNone/>
            </a:pPr>
            <a:r>
              <a:rPr sz="2700" b="1" i="0" u="none">
                <a:solidFill>
                  <a:srgbClr val="1F497D"/>
                </a:solidFill>
                <a:latin typeface="Times New Roman"/>
                <a:cs typeface="Times New Roman" pitchFamily="34" charset="0"/>
              </a:rPr>
              <a:t>EvalPro - Programming Labs That Mark Themselves, and Explain Why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9184" y="1152144"/>
            <a:ext cx="11503152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10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700"/>
              </a:spcBef>
              <a:spcAft>
                <a:spcPts val="300"/>
              </a:spcAft>
            </a:pPr>
            <a:r>
              <a:rPr sz="17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Detailed explanation of the proposed solution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student submits their lab program. The platform runs it, marks it, and shows them exactly why they got each mark.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does not stop at a number. Each mark is linked to a topic - loops, recursion, error handling - so the student sees which topic they are weak on, not just which lab.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Marks from every lab add up over the semester into a clear picture of what each student actually understands.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700"/>
              </a:spcBef>
              <a:spcAft>
                <a:spcPts val="300"/>
              </a:spcAft>
            </a:pPr>
            <a:r>
              <a:rPr sz="17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How it addresses the problem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Collects the academic information: labs, submissions and class lists, straight from the college's existing Moodle or Google Classroom.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Analyses it four ways: each submission, each student over time, each question, and the class as a whole.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Gives everyone a next step: what a student should revise, what a teacher should explain again, which students need support.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Shows it on one simple screen per person - one for students, one for teachers, one for the department.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700"/>
              </a:spcBef>
              <a:spcAft>
                <a:spcPts val="300"/>
              </a:spcAft>
            </a:pPr>
            <a:r>
              <a:rPr sz="17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Innovation and uniqueness of the solution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missing bracket costs two marks, not the whole lab. We find the smallest fix that makes the program run, then mark the rest of the work properly.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answer key never goes near the student's program, so it cannot be copied, guessed or hard-coded.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also marks the question paper. If the strongest students all fail one part, the question was probably unclear, and the teacher is told.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When it is not sure, it says so and hands the submission to the teacher instead of guessing.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3310128"/>
            <a:ext cx="11503152" cy="2926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5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Technologies to be used (e.g. programming languages, frameworks, hardware)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Python and FastAPI on the server. A plain web interface that works in any browser, with nothing to install on a student's machine.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programs run inside a locked-down sandbox, so nothing they submit can touch the college's systems or see anyone else's work.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Well-established methods do the marking: standard program analysis, the same plagiarism technique universities already use, and a well-known model for tracking what a learner knows.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Runs on an ordinary computer. No expensive hardware, no paid AI service needed to mark a submission.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000"/>
              </a:spcBef>
              <a:spcAft>
                <a:spcPts val="5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Methodology and process for implementation (Flow Charts/Images/ working prototype)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teacher writes the lab question in ordinary English. The platform reads it and works out what it can check - and shows the teacher that list before anything is published.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Working prototype today: a full class of 24 students across four labs, marked from start to finish, with every screen above already built.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29184" y="1115568"/>
            <a:ext cx="2615184" cy="1481328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95000"/>
              </a:lnSpc>
              <a:buNone/>
              <a:spcAft>
                <a:spcPts val="300"/>
              </a:spcAft>
            </a:pPr>
            <a:r>
              <a:rPr sz="105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1.  COLLECT</a:t>
            </a:r>
          </a:p>
          <a:p>
            <a:pPr algn="ctr" marL="0" indent="0">
              <a:lnSpc>
                <a:spcPct val="90000"/>
              </a:lnSpc>
              <a:buNone/>
            </a:pPr>
            <a:r>
              <a:rPr sz="8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lab questions, submissions
and class lists, from the
college's existing system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2944368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Rounded Rectangle 17412"/>
          <p:cNvSpPr/>
          <p:nvPr/>
        </p:nvSpPr>
        <p:spPr>
          <a:xfrm>
            <a:off x="3236976" y="1115568"/>
            <a:ext cx="2615184" cy="1481328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95000"/>
              </a:lnSpc>
              <a:buNone/>
              <a:spcAft>
                <a:spcPts val="300"/>
              </a:spcAft>
            </a:pPr>
            <a:r>
              <a:rPr sz="105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2.  MARK</a:t>
            </a:r>
          </a:p>
          <a:p>
            <a:pPr algn="ctr" marL="0" indent="0">
              <a:lnSpc>
                <a:spcPct val="90000"/>
              </a:lnSpc>
              <a:buNone/>
            </a:pPr>
            <a:r>
              <a:rPr sz="8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run the program safely,
check it against the rubric,
explain every mark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5852160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6144768" y="1115568"/>
            <a:ext cx="2615184" cy="1481328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95000"/>
              </a:lnSpc>
              <a:buNone/>
              <a:spcAft>
                <a:spcPts val="300"/>
              </a:spcAft>
            </a:pPr>
            <a:r>
              <a:rPr sz="105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3.  UNDERSTAND</a:t>
            </a:r>
          </a:p>
          <a:p>
            <a:pPr algn="ctr" marL="0" indent="0">
              <a:lnSpc>
                <a:spcPct val="90000"/>
              </a:lnSpc>
              <a:buNone/>
            </a:pPr>
            <a:r>
              <a:rPr sz="8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build a picture of which
topics each student
has actually got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8759952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9052560" y="1115568"/>
            <a:ext cx="2615184" cy="1481328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95000"/>
              </a:lnSpc>
              <a:buNone/>
              <a:spcAft>
                <a:spcPts val="300"/>
              </a:spcAft>
            </a:pPr>
            <a:r>
              <a:rPr sz="105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4.  ACT</a:t>
            </a:r>
          </a:p>
          <a:p>
            <a:pPr algn="ctr" marL="0" indent="0">
              <a:lnSpc>
                <a:spcPct val="90000"/>
              </a:lnSpc>
              <a:buNone/>
            </a:pPr>
            <a:r>
              <a:rPr sz="8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tell students what to revise,
tell teachers what to reteach,
report on the course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9184" y="2651760"/>
            <a:ext cx="11475720" cy="40233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ctr" marL="0" indent="0">
              <a:lnSpc>
                <a:spcPct val="95000"/>
              </a:lnSpc>
              <a:buNone/>
            </a:pPr>
            <a:r>
              <a:rPr sz="11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Every mark is tied to a topic. That one link is what turns a pile of lab marks into a picture of what a student actually understands.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52144"/>
            <a:ext cx="11503152" cy="4261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700"/>
              </a:spcBef>
              <a:spcAft>
                <a:spcPts val="300"/>
              </a:spcAft>
            </a:pPr>
            <a:r>
              <a:rPr sz="17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Analysis of the feasibility of the idea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already works. Nothing here waits on a research breakthrough.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runs on a normal laptop or a small college server, and setting up one lab takes a teacher about ten minutes.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fits into the tools a college already uses, so marks go back into the existing gradebook automatically.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700"/>
              </a:spcBef>
              <a:spcAft>
                <a:spcPts val="300"/>
              </a:spcAft>
            </a:pPr>
            <a:r>
              <a:rPr sz="17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challenges and risks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programs are run on our machine, and some of them will be badly behaved.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Automatic marking can get things wrong, and a wrong mark destroys trust quickly.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Wrongly accusing a student of copying is the most damaging mistake the system could make.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will abandon anything that costs them more time than it saves.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700"/>
              </a:spcBef>
              <a:spcAft>
                <a:spcPts val="300"/>
              </a:spcAft>
            </a:pPr>
            <a:r>
              <a:rPr sz="17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Strategies for overcoming these challenges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program runs sealed off from everything else, and is thrown away afterwards.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system knows when it is unsure and sends those submissions to the teacher. Students can question any mark and get a human answer.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copying, it only shows the overlapping lines side by side. The judgement stays with the teacher - the platform never accuses anyone.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4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Set-up is ten minutes, marks flow back into the existing gradebook, and every correction a teacher makes teaches the system to do better next time.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1089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9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Already built</a:t>
            </a:r>
          </a:p>
          <a:p>
            <a:pPr algn="ctr" marL="0" indent="0">
              <a:lnSpc>
                <a:spcPct val="88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full class of 24 students and four labs, marked end to end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4281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9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~10 minutes</a:t>
            </a:r>
          </a:p>
          <a:p>
            <a:pPr algn="ctr" marL="0" indent="0">
              <a:lnSpc>
                <a:spcPct val="88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a teacher to set up one lab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17473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9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No extra cost</a:t>
            </a:r>
          </a:p>
          <a:p>
            <a:pPr algn="ctr" marL="0" indent="0">
              <a:lnSpc>
                <a:spcPct val="88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runs on ordinary hardware, no paid AI service to mark work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52144"/>
            <a:ext cx="11503152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700"/>
              </a:spcBef>
              <a:spcAft>
                <a:spcPts val="300"/>
              </a:spcAft>
            </a:pPr>
            <a:r>
              <a:rPr sz="17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impact on the target audience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5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Students stop guessing why they lost marks. Instead of "72/100" they see "your program crashes when the list is empty" - and which topic to revise because of it.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5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get their marking hours back, and get told what the class did not understand while there is still time to teach it again.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5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Heads of department see how the course is performing against its stated outcomes, live, instead of reconstructing it at the end of the year.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700"/>
              </a:spcBef>
              <a:spcAft>
                <a:spcPts val="300"/>
              </a:spcAft>
            </a:pPr>
            <a:r>
              <a:rPr sz="17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Benefits of the solution (social, economic, environmental, etc.)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5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Fairer marking. Every student is marked to the same standard, every mark comes with a reason, and any student can question any mark.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5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Time and cost saved. Marking a lab of sixty students goes from an evening's work to reviewing the handful the system was unsure about.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5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Accreditation reporting for NBA and NAAC, which takes weeks of manual work today, becomes a report that is always up to date.</a:t>
            </a:r>
          </a:p>
          <a:p>
            <a:pPr algn="just" marL="329184" indent="-219456">
              <a:lnSpc>
                <a:spcPct val="95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5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Weaker students are spotted early and offered help, rather than discovered at the end of the semester when nothing can be done.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52144"/>
            <a:ext cx="11503152" cy="4261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Aft>
                <a:spcPts val="900"/>
              </a:spcAft>
            </a:pPr>
            <a:r>
              <a:rPr sz="17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Details / Links of the reference and research work</a:t>
            </a:r>
          </a:p>
          <a:p>
            <a:pPr algn="l" marL="219456" indent="-219456">
              <a:lnSpc>
                <a:spcPct val="95000"/>
              </a:lnSpc>
              <a:buFont typeface="Arial" pitchFamily="34" charset="0"/>
              <a:buChar char="•"/>
              <a:spcBef>
                <a:spcPts val="500"/>
              </a:spcBef>
              <a:spcAft>
                <a:spcPts val="200"/>
              </a:spcAft>
            </a:pPr>
            <a:r>
              <a:rPr sz="14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Checking for copied code</a:t>
            </a:r>
          </a:p>
          <a:p>
            <a:pPr algn="l" marL="493776" indent="-219456">
              <a:lnSpc>
                <a:spcPct val="95000"/>
              </a:lnSpc>
              <a:buFont typeface="Arial" pitchFamily="34" charset="0"/>
              <a:buChar char="–"/>
              <a:spcAft>
                <a:spcPts val="3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Schleimer, Wilkerson &amp; Aiken, "Winnowing: Local Algorithms for Document Fingerprinting", ACM SIGMOD 2003 - the method behind MOSS, used by universities worldwide.</a:t>
            </a:r>
          </a:p>
          <a:p>
            <a:pPr algn="l" marL="219456" indent="-219456">
              <a:lnSpc>
                <a:spcPct val="95000"/>
              </a:lnSpc>
              <a:buFont typeface="Arial" pitchFamily="34" charset="0"/>
              <a:buChar char="•"/>
              <a:spcBef>
                <a:spcPts val="500"/>
              </a:spcBef>
              <a:spcAft>
                <a:spcPts val="200"/>
              </a:spcAft>
            </a:pPr>
            <a:r>
              <a:rPr sz="14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Tracking what a student knows</a:t>
            </a:r>
          </a:p>
          <a:p>
            <a:pPr algn="l" marL="493776" indent="-219456">
              <a:lnSpc>
                <a:spcPct val="95000"/>
              </a:lnSpc>
              <a:buFont typeface="Arial" pitchFamily="34" charset="0"/>
              <a:buChar char="–"/>
              <a:spcAft>
                <a:spcPts val="3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Corbett &amp; Anderson, "Knowledge Tracing", User Modeling and User-Adapted Interaction, 1994 - the standard model for estimating mastery from performance.</a:t>
            </a:r>
          </a:p>
          <a:p>
            <a:pPr algn="l" marL="493776" indent="-219456">
              <a:lnSpc>
                <a:spcPct val="95000"/>
              </a:lnSpc>
              <a:buFont typeface="Arial" pitchFamily="34" charset="0"/>
              <a:buChar char="–"/>
              <a:spcAft>
                <a:spcPts val="3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Ebel &amp; Frisbie, Essentials of Educational Measurement - the classical way to tell a good exam question from a bad one.</a:t>
            </a:r>
          </a:p>
          <a:p>
            <a:pPr algn="l" marL="219456" indent="-219456">
              <a:lnSpc>
                <a:spcPct val="95000"/>
              </a:lnSpc>
              <a:buFont typeface="Arial" pitchFamily="34" charset="0"/>
              <a:buChar char="•"/>
              <a:spcBef>
                <a:spcPts val="500"/>
              </a:spcBef>
              <a:spcAft>
                <a:spcPts val="200"/>
              </a:spcAft>
            </a:pPr>
            <a:r>
              <a:rPr sz="14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Marking programs automatically</a:t>
            </a:r>
          </a:p>
          <a:p>
            <a:pPr algn="l" marL="493776" indent="-219456">
              <a:lnSpc>
                <a:spcPct val="95000"/>
              </a:lnSpc>
              <a:buFont typeface="Arial" pitchFamily="34" charset="0"/>
              <a:buChar char="–"/>
              <a:spcAft>
                <a:spcPts val="3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Gulwani, Radicek &amp; Zuleger, "Automated Clustering and Program Repair for Introductory Programming Assignments", PLDI 2018 - the basis for giving partial credit instead of a zero.</a:t>
            </a:r>
          </a:p>
          <a:p>
            <a:pPr algn="l" marL="493776" indent="-219456">
              <a:lnSpc>
                <a:spcPct val="95000"/>
              </a:lnSpc>
              <a:buFont typeface="Arial" pitchFamily="34" charset="0"/>
              <a:buChar char="–"/>
              <a:spcAft>
                <a:spcPts val="3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tree-sitter - the parser used to understand student code even when it does not compile.</a:t>
            </a:r>
          </a:p>
          <a:p>
            <a:pPr algn="l" marL="219456" indent="-219456">
              <a:lnSpc>
                <a:spcPct val="95000"/>
              </a:lnSpc>
              <a:buFont typeface="Arial" pitchFamily="34" charset="0"/>
              <a:buChar char="•"/>
              <a:spcBef>
                <a:spcPts val="500"/>
              </a:spcBef>
              <a:spcAft>
                <a:spcPts val="200"/>
              </a:spcAft>
            </a:pPr>
            <a:r>
              <a:rPr sz="14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Running untrusted code safely</a:t>
            </a:r>
          </a:p>
          <a:p>
            <a:pPr algn="l" marL="493776" indent="-219456">
              <a:lnSpc>
                <a:spcPct val="95000"/>
              </a:lnSpc>
              <a:buFont typeface="Arial" pitchFamily="34" charset="0"/>
              <a:buChar char="–"/>
              <a:spcAft>
                <a:spcPts val="3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Agache et al., "Firecracker: Lightweight Virtualization", USENIX NSDI 2020.</a:t>
            </a:r>
          </a:p>
          <a:p>
            <a:pPr algn="l" marL="219456" indent="-219456">
              <a:lnSpc>
                <a:spcPct val="95000"/>
              </a:lnSpc>
              <a:buFont typeface="Arial" pitchFamily="34" charset="0"/>
              <a:buChar char="•"/>
              <a:spcBef>
                <a:spcPts val="500"/>
              </a:spcBef>
              <a:spcAft>
                <a:spcPts val="200"/>
              </a:spcAft>
            </a:pPr>
            <a:r>
              <a:rPr sz="14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Standards we build to</a:t>
            </a:r>
          </a:p>
          <a:p>
            <a:pPr algn="l" marL="493776" indent="-219456">
              <a:lnSpc>
                <a:spcPct val="95000"/>
              </a:lnSpc>
              <a:buFont typeface="Arial" pitchFamily="34" charset="0"/>
              <a:buChar char="–"/>
              <a:spcAft>
                <a:spcPts val="3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1EdTech Learning Tools Interoperability 1.3 - how the platform plugs into Moodle and Google Classroom.</a:t>
            </a:r>
          </a:p>
          <a:p>
            <a:pPr algn="l" marL="493776" indent="-219456">
              <a:lnSpc>
                <a:spcPct val="95000"/>
              </a:lnSpc>
              <a:buFont typeface="Arial" pitchFamily="34" charset="0"/>
              <a:buChar char="–"/>
              <a:spcAft>
                <a:spcPts val="3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National Board of Accreditation (India) - the CO-PO attainment rules the reports follow.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10896" y="5559552"/>
            <a:ext cx="11576304" cy="566928"/>
          </a:xfrm>
          <a:prstGeom prst="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</p:spPr>
        <p:txBody>
          <a:bodyPr wrap="square" lIns="45720" rIns="45720" tIns="22860" bIns="22860" anchor="ctr"/>
          <a:lstStyle/>
          <a:p>
            <a:pPr algn="ctr" marL="0" indent="0">
              <a:lnSpc>
                <a:spcPct val="95000"/>
              </a:lnSpc>
              <a:buNone/>
            </a:pPr>
            <a:r>
              <a:rPr sz="13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Working prototype and source code: github.com/Varshith-06/evalpro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